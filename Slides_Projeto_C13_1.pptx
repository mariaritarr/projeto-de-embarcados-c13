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3" r:id="rId2"/>
    <p:sldId id="261" r:id="rId3"/>
    <p:sldId id="260" r:id="rId4"/>
    <p:sldId id="258" r:id="rId5"/>
    <p:sldId id="256" r:id="rId6"/>
    <p:sldId id="264" r:id="rId7"/>
    <p:sldId id="257" r:id="rId8"/>
    <p:sldId id="259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252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801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390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61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204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542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33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009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09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87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4909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180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426313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4609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8262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02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827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0C7D40-D0B2-440E-B43C-8427721AC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559" y="218741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pt-BR" dirty="0"/>
              <a:t>Identificação de Processos e Sintonia de Controladores PID</a:t>
            </a:r>
            <a:br>
              <a:rPr lang="pt-BR" dirty="0"/>
            </a:br>
            <a:br>
              <a:rPr lang="pt-BR" dirty="0"/>
            </a:br>
            <a:r>
              <a:rPr lang="pt-BR" sz="2200" dirty="0"/>
              <a:t>Grupo 2 — C13 Sistemas Embarcados</a:t>
            </a:r>
            <a:br>
              <a:rPr lang="pt-BR" dirty="0"/>
            </a:br>
            <a:r>
              <a:rPr lang="pt-BR" dirty="0"/>
              <a:t>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7E2BF2F-1C7C-4FBA-B0D7-09116F05F4D3}"/>
              </a:ext>
            </a:extLst>
          </p:cNvPr>
          <p:cNvSpPr txBox="1"/>
          <p:nvPr/>
        </p:nvSpPr>
        <p:spPr>
          <a:xfrm flipH="1">
            <a:off x="596225" y="5840963"/>
            <a:ext cx="3117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Equipe: Maria – Julia - Raissa</a:t>
            </a:r>
          </a:p>
        </p:txBody>
      </p:sp>
    </p:spTree>
    <p:extLst>
      <p:ext uri="{BB962C8B-B14F-4D97-AF65-F5344CB8AC3E}">
        <p14:creationId xmlns:p14="http://schemas.microsoft.com/office/powerpoint/2010/main" val="4174050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Variáveis</a:t>
            </a:r>
            <a:r>
              <a:rPr dirty="0"/>
              <a:t> do </a:t>
            </a:r>
            <a:r>
              <a:rPr dirty="0" err="1"/>
              <a:t>processo</a:t>
            </a:r>
            <a:r>
              <a:rPr dirty="0"/>
              <a:t> e </a:t>
            </a:r>
            <a:r>
              <a:rPr dirty="0" err="1"/>
              <a:t>perturbações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325713"/>
            <a:ext cx="5257800" cy="21323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81485"/>
            <a:ext cx="7587916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Variável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controlada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- Velocidade (RPM)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4846320" cy="720197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É a saída do motor que queremos controlar.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 sistema busca manter a rotação próxima ao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SetPoint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de 1800 RPM, usado como referência no projeto.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79" y="1280160"/>
            <a:ext cx="5248469" cy="2148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591056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Variável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manipulada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– 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Duty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cycle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do PWM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55080" y="1965960"/>
            <a:ext cx="4846320" cy="1151084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Representa o comando de acionamento aplicado ao motor.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Ao aumentar ou diminuir esse comando, altera-se a energia fornecida ao motor e, consequentemente, sua velocidade.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31520" y="3790868"/>
            <a:ext cx="5148070" cy="2151047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Carga mecânica: o aumento da carga no eixo pode reduzir a rotação.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Alimentação elétrica: variações na tensão podem alterar o desempenho do motor.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Atrito e aquecimento: modificam as condições de funcionamento e podem afetar a velocidade.</a:t>
            </a:r>
            <a:endParaRPr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33270" y="3887861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Perturbações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35808" y="3790867"/>
            <a:ext cx="5248470" cy="2151047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1280" y="3842058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B03D3D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Faixas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operação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355080" y="4162181"/>
            <a:ext cx="4846320" cy="179741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lang="pt-BR" dirty="0"/>
              <a:t>Ensaio realizado: degrau de acionamento de 0% para 80%.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lang="pt-BR" dirty="0"/>
              <a:t>Referência de velocidade: 1800 RPM.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lang="pt-BR" dirty="0"/>
              <a:t>Os limites máximos de tensão, corrente e rotação dependem das especificações do motor, do driver e do sensor; não devem ser deduzidos apenas desses valores do ensaio.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859349" y="6044160"/>
            <a:ext cx="10515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600" b="1">
                <a:solidFill>
                  <a:srgbClr val="182B45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PID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compara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velocidade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medida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com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SetPoint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ajusta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acionamento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reduzir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erro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Sintonia</a:t>
            </a:r>
            <a:r>
              <a:rPr dirty="0"/>
              <a:t> Cohen–Coon: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interpretar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66360" cy="17373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81912"/>
            <a:ext cx="4800600" cy="2585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O que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significam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parâmetros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800600" cy="75097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Kp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intensidade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proporcional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escala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tempo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integral;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>
                <a:latin typeface="Arial" panose="020B0604020202020204" pitchFamily="34" charset="0"/>
                <a:cs typeface="Arial" panose="020B0604020202020204" pitchFamily="34" charset="0"/>
              </a:rPr>
              <a:t>Td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escala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tempo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derivativa</a:t>
            </a:r>
            <a:r>
              <a:rPr dirty="0"/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257800" cy="17373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545336"/>
            <a:ext cx="489204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B03D3D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Atenção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à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razão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θ/τ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920240"/>
            <a:ext cx="4892040" cy="118186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material do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projeto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cita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θ/τ &gt; 0,3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referência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para Cohen–Coon.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No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nosso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razão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é 0,1270,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abaixo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desse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valor.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isso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resultado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deve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ser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interpretado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com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essa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ressalva</a:t>
            </a:r>
            <a:r>
              <a:rPr dirty="0"/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16847E"/>
                </a:solidFill>
                <a:latin typeface="Aptos"/>
              </a:defRPr>
            </a:pPr>
            <a:r>
              <a:t>Kp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776472"/>
            <a:ext cx="1993392" cy="49377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0,477628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838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2F69A4"/>
                </a:solidFill>
                <a:latin typeface="Aptos"/>
              </a:defRPr>
            </a:pPr>
            <a:r>
              <a:t>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3776472"/>
            <a:ext cx="1993392" cy="49377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5,929863 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984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CD7731"/>
                </a:solidFill>
                <a:latin typeface="Aptos"/>
              </a:defRPr>
            </a:pPr>
            <a:r>
              <a:t>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98464" y="3776472"/>
            <a:ext cx="1993392" cy="49377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0,901684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7315200" cy="36576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000" b="1">
                <a:solidFill>
                  <a:srgbClr val="182B45"/>
                </a:solidFill>
                <a:latin typeface="Aptos"/>
              </a:defRPr>
            </a:pPr>
            <a:r>
              <a:rPr dirty="0"/>
              <a:t>θ/τ = 2,5369 ÷ 19,9705 ≈ 0,1270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Métodos</a:t>
            </a:r>
            <a:r>
              <a:rPr dirty="0"/>
              <a:t> de </a:t>
            </a:r>
            <a:r>
              <a:rPr dirty="0" err="1"/>
              <a:t>identificação</a:t>
            </a:r>
            <a:r>
              <a:rPr dirty="0"/>
              <a:t>: Smith e </a:t>
            </a:r>
            <a:r>
              <a:rPr dirty="0" err="1"/>
              <a:t>Sundaresan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30" y="1653628"/>
            <a:ext cx="5254750" cy="2441772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1750532"/>
            <a:ext cx="4800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que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feito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2342125"/>
            <a:ext cx="4800600" cy="136652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Comparamos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dois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métodos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identificação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Smith 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Sundaresan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Depois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obter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avaliamos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erro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quadrático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médio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chamado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EQM.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Esse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indicador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verificar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qual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representa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melhor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dados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medidos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do motor.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8088" y="1624011"/>
            <a:ext cx="5254750" cy="2441772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59" y="1733734"/>
            <a:ext cx="49834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Como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interpretar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EQM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3618" y="2292282"/>
            <a:ext cx="4983479" cy="136652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EQM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diferença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entre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calculada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resposta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real.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Quanto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valor,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melhor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ajuste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dados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deste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ensaio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EQM,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sozinho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não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garante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que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seja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perfeito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outras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condições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FDA008A-9646-41EC-9F73-9E42188FB0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67" y="143166"/>
            <a:ext cx="9705975" cy="608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8423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t>Resultado da identificação e ajuste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8813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100" b="0">
                <a:solidFill>
                  <a:srgbClr val="5D6A78"/>
                </a:solidFill>
                <a:latin typeface="Aptos"/>
              </a:defRPr>
            </a:pPr>
            <a:r>
              <a:rPr dirty="0"/>
              <a:t>O </a:t>
            </a:r>
            <a:r>
              <a:rPr dirty="0" err="1"/>
              <a:t>método</a:t>
            </a:r>
            <a:r>
              <a:rPr dirty="0"/>
              <a:t> Smith </a:t>
            </a:r>
            <a:r>
              <a:rPr dirty="0" err="1"/>
              <a:t>apresentou</a:t>
            </a:r>
            <a:r>
              <a:rPr dirty="0"/>
              <a:t> o </a:t>
            </a:r>
            <a:r>
              <a:rPr dirty="0" err="1"/>
              <a:t>menor</a:t>
            </a:r>
            <a:r>
              <a:rPr dirty="0"/>
              <a:t> EQM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dois</a:t>
            </a:r>
            <a:r>
              <a:rPr dirty="0"/>
              <a:t> </a:t>
            </a:r>
            <a:r>
              <a:rPr dirty="0" err="1"/>
              <a:t>métodos</a:t>
            </a:r>
            <a:r>
              <a:rPr dirty="0"/>
              <a:t> </a:t>
            </a:r>
            <a:r>
              <a:rPr dirty="0" err="1"/>
              <a:t>iniciais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16847E"/>
                </a:solidFill>
                <a:latin typeface="Aptos"/>
              </a:defRPr>
            </a:pPr>
            <a:r>
              <a:t>SMITH • EQM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10,4641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8386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2F69A4"/>
                </a:solidFill>
                <a:latin typeface="Aptos"/>
              </a:defRPr>
            </a:pPr>
            <a:r>
              <a:t>SUNDARESAN • EQM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386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16,3748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990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CD7731"/>
                </a:solidFill>
                <a:latin typeface="Aptos"/>
              </a:defRPr>
            </a:pPr>
            <a:r>
              <a:t>AJUSTE FINO • EQM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990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10,0954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1463040"/>
            <a:ext cx="2788920" cy="19202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32519" y="1591056"/>
            <a:ext cx="24231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t>Por que ajustar?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1965960"/>
            <a:ext cx="2423160" cy="129844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r>
              <a:t>O ajuste fino modifica os parâmetros para reduzir ainda mais a diferença entre o modelo e os dados medidos.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657600"/>
            <a:ext cx="3108960" cy="15544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0" y="3785615"/>
            <a:ext cx="274320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t>Parâmetros ajustados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160520"/>
            <a:ext cx="2743200" cy="9326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600" b="0">
                <a:solidFill>
                  <a:srgbClr val="2B343E"/>
                </a:solidFill>
                <a:latin typeface="Aptos"/>
              </a:defRPr>
            </a:pPr>
            <a:r>
              <a:t>K = 22,4987</a:t>
            </a:r>
            <a:br/>
            <a:r>
              <a:t>τ = 19,9705 s</a:t>
            </a:r>
            <a:br/>
            <a:r>
              <a:t>θ = 2,5369 s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8A86A204-936B-4CEA-B2D3-D6EFCE09E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320" y="2543898"/>
            <a:ext cx="6745566" cy="42167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O que </a:t>
            </a:r>
            <a:r>
              <a:rPr sz="1600" dirty="0" err="1">
                <a:latin typeface="Arial" panose="020B0604020202020204" pitchFamily="34" charset="0"/>
                <a:cs typeface="Arial" panose="020B0604020202020204" pitchFamily="34" charset="0"/>
              </a:rPr>
              <a:t>mostrou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600" dirty="0" err="1">
                <a:latin typeface="Arial" panose="020B0604020202020204" pitchFamily="34" charset="0"/>
                <a:cs typeface="Arial" panose="020B0604020202020204" pitchFamily="34" charset="0"/>
              </a:rPr>
              <a:t>simulação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sz="1600" dirty="0" err="1">
                <a:latin typeface="Arial" panose="020B0604020202020204" pitchFamily="34" charset="0"/>
                <a:cs typeface="Arial" panose="020B0604020202020204" pitchFamily="34" charset="0"/>
              </a:rPr>
              <a:t>sintonia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8813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100" b="0">
                <a:solidFill>
                  <a:srgbClr val="5D6A78"/>
                </a:solidFill>
                <a:latin typeface="Aptos"/>
              </a:defRPr>
            </a:pPr>
            <a:r>
              <a:rPr dirty="0" err="1"/>
              <a:t>Comparação</a:t>
            </a:r>
            <a:r>
              <a:rPr dirty="0"/>
              <a:t> dos </a:t>
            </a:r>
            <a:r>
              <a:rPr dirty="0" err="1"/>
              <a:t>métodos</a:t>
            </a:r>
            <a:r>
              <a:rPr dirty="0"/>
              <a:t> para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modelo</a:t>
            </a:r>
            <a:r>
              <a:rPr dirty="0"/>
              <a:t> e </a:t>
            </a:r>
            <a:r>
              <a:rPr dirty="0" err="1"/>
              <a:t>SetPoint</a:t>
            </a:r>
            <a:r>
              <a:rPr dirty="0"/>
              <a:t> de 1800 RPM.</a:t>
            </a:r>
          </a:p>
        </p:txBody>
      </p:sp>
      <p:pic>
        <p:nvPicPr>
          <p:cNvPr id="6" name="Picture 5" descr="image(20261012-154048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83705"/>
            <a:ext cx="6629400" cy="41935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52360" y="1554480"/>
            <a:ext cx="3977639" cy="10972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35240" y="1682495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Cohen–Coon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946776"/>
            <a:ext cx="3611879" cy="720197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Subida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3,184 s</a:t>
            </a:r>
            <a:b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Acomodação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23,240 s</a:t>
            </a:r>
            <a:b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Overshoot: 84,16%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2834640"/>
            <a:ext cx="3977639" cy="10972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40" y="2962656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Ziegler–Nichols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195829"/>
            <a:ext cx="3611879" cy="720197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Subida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3,124 s</a:t>
            </a:r>
            <a:b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Acomodação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22,741 s</a:t>
            </a:r>
            <a:b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Overshoot: 68,82%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4160520"/>
            <a:ext cx="3977639" cy="1705356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58100" y="4151375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Conclusão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635238" y="4446037"/>
            <a:ext cx="3611879" cy="136652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400" b="0">
                <a:solidFill>
                  <a:srgbClr val="2B343E"/>
                </a:solidFill>
                <a:latin typeface="Aptos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Nesta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simulação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, Ziegler–Nichols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ligeiramente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mais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rápido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teve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overshoot.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00" b="0">
                <a:solidFill>
                  <a:srgbClr val="2B343E"/>
                </a:solidFill>
                <a:latin typeface="Aptos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Ambos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chegaram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ao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SetPoint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regime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permanente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, mas as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oscilações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iniciais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foram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elevadas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ado">
  <a:themeElements>
    <a:clrScheme name="Facetado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63</TotalTime>
  <Words>583</Words>
  <Application>Microsoft Office PowerPoint</Application>
  <PresentationFormat>Widescreen</PresentationFormat>
  <Paragraphs>64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3" baseType="lpstr">
      <vt:lpstr>Aptos</vt:lpstr>
      <vt:lpstr>Arial</vt:lpstr>
      <vt:lpstr>Trebuchet MS</vt:lpstr>
      <vt:lpstr>Wingdings 3</vt:lpstr>
      <vt:lpstr>Facetado</vt:lpstr>
      <vt:lpstr>Identificação de Processos e Sintonia de Controladores PID  Grupo 2 — C13 Sistemas Embarcados   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Identificação de Processos e Sintonia de Controladores PID  Grupo 2 — C13 Sistemas Embarcados    </dc:title>
  <dc:subject/>
  <dc:creator/>
  <cp:keywords/>
  <dc:description>generated using python-pptx</dc:description>
  <cp:lastModifiedBy>Raissa Rodrigues</cp:lastModifiedBy>
  <cp:revision>10</cp:revision>
  <dcterms:created xsi:type="dcterms:W3CDTF">2013-01-27T09:14:16Z</dcterms:created>
  <dcterms:modified xsi:type="dcterms:W3CDTF">2026-10-12T16:58:23Z</dcterms:modified>
  <cp:category/>
</cp:coreProperties>
</file>