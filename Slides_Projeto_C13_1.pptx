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1"/>
  </p:notesMasterIdLst>
  <p:sldIdLst>
    <p:sldId id="263" r:id="rId5"/>
    <p:sldId id="261" r:id="rId6"/>
    <p:sldId id="260" r:id="rId7"/>
    <p:sldId id="265" r:id="rId8"/>
    <p:sldId id="266" r:id="rId9"/>
    <p:sldId id="256" r:id="rId10"/>
    <p:sldId id="267" r:id="rId11"/>
    <p:sldId id="264" r:id="rId12"/>
    <p:sldId id="257" r:id="rId13"/>
    <p:sldId id="269" r:id="rId14"/>
    <p:sldId id="272" r:id="rId15"/>
    <p:sldId id="271" r:id="rId16"/>
    <p:sldId id="258" r:id="rId17"/>
    <p:sldId id="259" r:id="rId18"/>
    <p:sldId id="268" r:id="rId19"/>
    <p:sldId id="27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C63D"/>
    <a:srgbClr val="FFA14E"/>
    <a:srgbClr val="599AC7"/>
    <a:srgbClr val="508927"/>
    <a:srgbClr val="93C331"/>
    <a:srgbClr val="9FC95D"/>
    <a:srgbClr val="729D51"/>
    <a:srgbClr val="6998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162" autoAdjust="0"/>
    <p:restoredTop sz="94291" autoAdjust="0"/>
  </p:normalViewPr>
  <p:slideViewPr>
    <p:cSldViewPr snapToGrid="0" snapToObjects="1">
      <p:cViewPr varScale="1">
        <p:scale>
          <a:sx n="72" d="100"/>
          <a:sy n="72" d="100"/>
        </p:scale>
        <p:origin x="73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A095D4-FCD5-437C-8944-C106833A5A70}" type="datetimeFigureOut">
              <a:rPr lang="pt-BR" smtClean="0"/>
              <a:t>13/10/2026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3C3CB-42BF-4E17-A081-A3E6889C129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9139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3C3CB-42BF-4E17-A081-A3E6889C1295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1357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252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801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390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61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204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42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33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009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09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87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4909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180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426313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4609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8262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02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827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0C7D40-D0B2-440E-B43C-8427721AC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600200"/>
            <a:ext cx="7680960" cy="2560320"/>
          </a:xfrm>
        </p:spPr>
        <p:txBody>
          <a:bodyPr anchor="b">
            <a:normAutofit/>
          </a:bodyPr>
          <a:lstStyle/>
          <a:p>
            <a:pPr algn="l"/>
            <a:r>
              <a:rPr lang="pt-BR" sz="4000" b="1">
                <a:solidFill>
                  <a:srgbClr val="182B45"/>
                </a:solidFill>
                <a:latin typeface="Arial"/>
              </a:rPr>
              <a:t>Identificação de Processos e Sintonia de Controladores PID</a:t>
            </a:r>
          </a:p>
          <a:p>
            <a:pPr algn="l">
              <a:spcBef>
                <a:spcPts val="1800"/>
              </a:spcBef>
            </a:pPr>
            <a:r>
              <a:rPr lang="pt-BR" sz="2200" b="0">
                <a:solidFill>
                  <a:srgbClr val="16847E"/>
                </a:solidFill>
                <a:latin typeface="Arial"/>
              </a:rPr>
              <a:t>Grupo 2 · C13 – Sistemas Embarcados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7E2BF2F-1C7C-4FBA-B0D7-09116F05F4D3}"/>
              </a:ext>
            </a:extLst>
          </p:cNvPr>
          <p:cNvSpPr txBox="1"/>
          <p:nvPr/>
        </p:nvSpPr>
        <p:spPr>
          <a:xfrm>
            <a:off x="594360" y="4572000"/>
            <a:ext cx="731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800" dirty="0">
                <a:solidFill>
                  <a:srgbClr val="2B343E"/>
                </a:solidFill>
                <a:latin typeface="Arial"/>
              </a:rPr>
              <a:t>Equipe: Maria · Julia · Raissa</a:t>
            </a:r>
          </a:p>
        </p:txBody>
      </p:sp>
    </p:spTree>
    <p:extLst>
      <p:ext uri="{BB962C8B-B14F-4D97-AF65-F5344CB8AC3E}">
        <p14:creationId xmlns:p14="http://schemas.microsoft.com/office/powerpoint/2010/main" val="4174050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01" name="TextBox 1">
            <a:extLst>
              <a:ext uri="{FF2B5EF4-FFF2-40B4-BE49-F238E27FC236}">
                <a16:creationId xmlns:a16="http://schemas.microsoft.com/office/drawing/2014/main" id="{47C04E18-E261-BE10-B838-2AF46A02074B}"/>
              </a:ext>
            </a:extLst>
          </p:cNvPr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Roteiro da apresentação</a:t>
            </a:r>
            <a:endParaRPr dirty="0"/>
          </a:p>
        </p:txBody>
      </p:sp>
      <p:sp>
        <p:nvSpPr>
          <p:cNvPr id="6002" name="Oval 6001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508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003" name="TextBox 6002"/>
          <p:cNvSpPr txBox="1"/>
          <p:nvPr/>
        </p:nvSpPr>
        <p:spPr>
          <a:xfrm>
            <a:off x="1371600" y="1435608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82B45"/>
                </a:solidFill>
                <a:latin typeface="Arial"/>
              </a:rPr>
              <a:t>A planta</a:t>
            </a:r>
          </a:p>
          <a:p>
            <a:r>
              <a:rPr sz="1400">
                <a:solidFill>
                  <a:srgbClr val="5A6772"/>
                </a:solidFill>
                <a:latin typeface="Arial"/>
              </a:rPr>
              <a:t>Motor CC, modelo FOPDT e variáveis do processo</a:t>
            </a:r>
          </a:p>
        </p:txBody>
      </p:sp>
      <p:sp>
        <p:nvSpPr>
          <p:cNvPr id="6004" name="Oval 6003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699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005" name="TextBox 6004"/>
          <p:cNvSpPr txBox="1"/>
          <p:nvPr/>
        </p:nvSpPr>
        <p:spPr>
          <a:xfrm>
            <a:off x="1371600" y="2350008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82B45"/>
                </a:solidFill>
                <a:latin typeface="Arial"/>
              </a:rPr>
              <a:t>Identificação</a:t>
            </a:r>
          </a:p>
          <a:p>
            <a:r>
              <a:rPr sz="1400">
                <a:solidFill>
                  <a:srgbClr val="5A6772"/>
                </a:solidFill>
                <a:latin typeface="Arial"/>
              </a:rPr>
              <a:t>Ensaio, Smith × Sundaresan e ajuste fino</a:t>
            </a:r>
          </a:p>
        </p:txBody>
      </p:sp>
      <p:sp>
        <p:nvSpPr>
          <p:cNvPr id="6006" name="Oval 6005"/>
          <p:cNvSpPr/>
          <p:nvPr/>
        </p:nvSpPr>
        <p:spPr>
          <a:xfrm>
            <a:off x="640080" y="3291840"/>
            <a:ext cx="548640" cy="548640"/>
          </a:xfrm>
          <a:prstGeom prst="ellipse">
            <a:avLst/>
          </a:prstGeom>
          <a:solidFill>
            <a:srgbClr val="93C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007" name="TextBox 6006"/>
          <p:cNvSpPr txBox="1"/>
          <p:nvPr/>
        </p:nvSpPr>
        <p:spPr>
          <a:xfrm>
            <a:off x="1371600" y="3264408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82B45"/>
                </a:solidFill>
                <a:latin typeface="Arial"/>
              </a:rPr>
              <a:t>Controle</a:t>
            </a:r>
          </a:p>
          <a:p>
            <a:r>
              <a:rPr sz="1400">
                <a:solidFill>
                  <a:srgbClr val="5A6772"/>
                </a:solidFill>
                <a:latin typeface="Arial"/>
              </a:rPr>
              <a:t>Malha aberta × fechada e sintonia PID (ZN e Cohen-Coon)</a:t>
            </a:r>
          </a:p>
        </p:txBody>
      </p:sp>
      <p:sp>
        <p:nvSpPr>
          <p:cNvPr id="6008" name="Oval 6007"/>
          <p:cNvSpPr/>
          <p:nvPr/>
        </p:nvSpPr>
        <p:spPr>
          <a:xfrm>
            <a:off x="640080" y="4206240"/>
            <a:ext cx="548640" cy="548640"/>
          </a:xfrm>
          <a:prstGeom prst="ellipse">
            <a:avLst/>
          </a:prstGeom>
          <a:solidFill>
            <a:srgbClr val="99C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009" name="TextBox 6008"/>
          <p:cNvSpPr txBox="1"/>
          <p:nvPr/>
        </p:nvSpPr>
        <p:spPr>
          <a:xfrm>
            <a:off x="1371600" y="4178808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82B45"/>
                </a:solidFill>
                <a:latin typeface="Arial"/>
              </a:rPr>
              <a:t>Comparação</a:t>
            </a:r>
          </a:p>
          <a:p>
            <a:r>
              <a:rPr sz="1400">
                <a:solidFill>
                  <a:srgbClr val="5A6772"/>
                </a:solidFill>
                <a:latin typeface="Arial"/>
              </a:rPr>
              <a:t>Qual método tem o menor tempo de resposta</a:t>
            </a:r>
          </a:p>
        </p:txBody>
      </p:sp>
      <p:sp>
        <p:nvSpPr>
          <p:cNvPr id="6010" name="Oval 6009"/>
          <p:cNvSpPr/>
          <p:nvPr/>
        </p:nvSpPr>
        <p:spPr>
          <a:xfrm>
            <a:off x="640080" y="5120640"/>
            <a:ext cx="548640" cy="548640"/>
          </a:xfrm>
          <a:prstGeom prst="ellipse">
            <a:avLst/>
          </a:prstGeom>
          <a:solidFill>
            <a:srgbClr val="9FC9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011" name="TextBox 6010"/>
          <p:cNvSpPr txBox="1"/>
          <p:nvPr/>
        </p:nvSpPr>
        <p:spPr>
          <a:xfrm>
            <a:off x="1371600" y="5093208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82B45"/>
                </a:solidFill>
                <a:latin typeface="Arial"/>
              </a:rPr>
              <a:t>Extra e interface</a:t>
            </a:r>
          </a:p>
          <a:p>
            <a:r>
              <a:rPr sz="1400">
                <a:solidFill>
                  <a:srgbClr val="5A6772"/>
                </a:solidFill>
                <a:latin typeface="Arial"/>
              </a:rPr>
              <a:t>Degrau de carga e demonstração ao vivo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/>
              <a:t>Como funciona o motor CC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4BCFBF66-A8E1-A508-75BF-D6504E95DE62}"/>
              </a:ext>
            </a:extLst>
          </p:cNvPr>
          <p:cNvGrpSpPr/>
          <p:nvPr/>
        </p:nvGrpSpPr>
        <p:grpSpPr>
          <a:xfrm>
            <a:off x="725714" y="4541490"/>
            <a:ext cx="4686300" cy="2132380"/>
            <a:chOff x="781812" y="1265685"/>
            <a:chExt cx="5257800" cy="2132380"/>
          </a:xfrm>
        </p:grpSpPr>
        <p:sp>
          <p:nvSpPr>
            <p:cNvPr id="6" name="Rounded Rectangle 5"/>
            <p:cNvSpPr/>
            <p:nvPr/>
          </p:nvSpPr>
          <p:spPr>
            <a:xfrm>
              <a:off x="781812" y="1265685"/>
              <a:ext cx="5257800" cy="213238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87552" y="1501840"/>
              <a:ext cx="4846320" cy="1660070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400" dirty="0">
                  <a:latin typeface="Arial" panose="020B0604020202020204" pitchFamily="34" charset="0"/>
                  <a:cs typeface="Arial" panose="020B0604020202020204" pitchFamily="34" charset="0"/>
                </a:rPr>
                <a:t>O estator gera o campo e a armadura gira:</a:t>
              </a:r>
            </a:p>
            <a:p>
              <a:pPr algn="ctr"/>
              <a:r>
                <a:rPr lang="pt-BR" sz="1600" i="1" dirty="0">
                  <a:solidFill>
                    <a:srgbClr val="2B343E"/>
                  </a:solidFill>
                  <a:latin typeface="Cambria"/>
                  <a:cs typeface="Cambria"/>
                </a:rPr>
                <a:t>T = </a:t>
              </a:r>
              <a:r>
                <a:rPr lang="pt-BR" sz="1600" i="1" dirty="0" err="1">
                  <a:solidFill>
                    <a:srgbClr val="2B343E"/>
                  </a:solidFill>
                  <a:latin typeface="Cambria"/>
                  <a:cs typeface="Cambria"/>
                </a:rPr>
                <a:t>K</a:t>
              </a:r>
              <a:r>
                <a:rPr lang="pt-BR" sz="1600" i="1" baseline="-25000" dirty="0" err="1">
                  <a:solidFill>
                    <a:srgbClr val="2B343E"/>
                  </a:solidFill>
                  <a:latin typeface="Cambria"/>
                  <a:cs typeface="Cambria"/>
                </a:rPr>
                <a:t>t</a:t>
              </a:r>
              <a:r>
                <a:rPr lang="pt-BR" sz="1600" i="1" dirty="0">
                  <a:solidFill>
                    <a:srgbClr val="2B343E"/>
                  </a:solidFill>
                  <a:latin typeface="Cambria"/>
                  <a:cs typeface="Cambria"/>
                </a:rPr>
                <a:t> I</a:t>
              </a:r>
              <a:r>
                <a:rPr lang="pt-BR" sz="1600" i="1" baseline="-25000" dirty="0">
                  <a:solidFill>
                    <a:srgbClr val="2B343E"/>
                  </a:solidFill>
                  <a:latin typeface="Cambria"/>
                  <a:cs typeface="Cambria"/>
                </a:rPr>
                <a:t>a</a:t>
              </a:r>
            </a:p>
            <a:p>
              <a:pPr algn="ctr"/>
              <a:r>
                <a:rPr lang="pt-BR" sz="1600" i="1" dirty="0">
                  <a:solidFill>
                    <a:srgbClr val="2B343E"/>
                  </a:solidFill>
                  <a:latin typeface="Cambria"/>
                  <a:cs typeface="Cambria"/>
                </a:rPr>
                <a:t>E = K</a:t>
              </a:r>
              <a:r>
                <a:rPr lang="pt-BR" sz="1600" i="1" baseline="-25000" dirty="0">
                  <a:solidFill>
                    <a:srgbClr val="2B343E"/>
                  </a:solidFill>
                  <a:latin typeface="Cambria"/>
                  <a:cs typeface="Cambria"/>
                </a:rPr>
                <a:t>e</a:t>
              </a:r>
              <a:r>
                <a:rPr lang="pt-BR" sz="1600" i="1" dirty="0">
                  <a:solidFill>
                    <a:srgbClr val="2B343E"/>
                  </a:solidFill>
                  <a:latin typeface="Cambria"/>
                  <a:cs typeface="Cambria"/>
                </a:rPr>
                <a:t> ω</a:t>
              </a:r>
            </a:p>
            <a:p>
              <a:pPr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400" dirty="0">
                  <a:latin typeface="Arial" panose="020B0604020202020204" pitchFamily="34" charset="0"/>
                  <a:cs typeface="Arial" panose="020B0604020202020204" pitchFamily="34" charset="0"/>
                </a:rPr>
                <a:t>A força contraeletromotriz é o que estabiliza a velocidade, sendo assim, quanto mais rápido, menor a corrente e o torque.</a:t>
              </a:r>
            </a:p>
          </p:txBody>
        </p:sp>
      </p:grpSp>
      <p:pic>
        <p:nvPicPr>
          <p:cNvPr id="9" name="Circuito equivalente" descr="circuito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8138160" cy="26938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16D006-CB03-BBC4-1EE9-BF025AEC7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094305-8C85-A818-FDAE-DCBB6710C90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/>
              <a:t>Do motor ao modelo FOPDT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387E07-9AD7-8505-90A7-D57F551469F3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ABF5922E-D1AF-1DC1-AD25-44351B930879}"/>
              </a:ext>
            </a:extLst>
          </p:cNvPr>
          <p:cNvGrpSpPr/>
          <p:nvPr/>
        </p:nvGrpSpPr>
        <p:grpSpPr>
          <a:xfrm>
            <a:off x="621793" y="1480479"/>
            <a:ext cx="4545294" cy="1719609"/>
            <a:chOff x="731520" y="1426297"/>
            <a:chExt cx="5257800" cy="179710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E85EB215-936F-DC1C-FD87-2D90116A9623}"/>
                </a:ext>
              </a:extLst>
            </p:cNvPr>
            <p:cNvSpPr/>
            <p:nvPr/>
          </p:nvSpPr>
          <p:spPr>
            <a:xfrm>
              <a:off x="731520" y="1426297"/>
              <a:ext cx="5257800" cy="179710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94D955-79B7-5615-A3A5-D4585D3809E1}"/>
                </a:ext>
              </a:extLst>
            </p:cNvPr>
            <p:cNvSpPr txBox="1"/>
            <p:nvPr/>
          </p:nvSpPr>
          <p:spPr>
            <a:xfrm>
              <a:off x="937260" y="1781861"/>
              <a:ext cx="4846320" cy="772924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400" dirty="0">
                  <a:latin typeface="Arial" panose="020B0604020202020204" pitchFamily="34" charset="0"/>
                  <a:cs typeface="Arial" panose="020B0604020202020204" pitchFamily="34" charset="0"/>
                </a:rPr>
                <a:t>O modelo físico é de segunda ordem, mas o polo elétrico é muito mais rápido que o mecânico, então sobra um modelo de primeira ordem.</a:t>
              </a:r>
            </a:p>
            <a:p>
              <a:pPr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FBAC371E-EC1A-46F8-5A20-BE8529371712}"/>
              </a:ext>
            </a:extLst>
          </p:cNvPr>
          <p:cNvGrpSpPr/>
          <p:nvPr/>
        </p:nvGrpSpPr>
        <p:grpSpPr>
          <a:xfrm>
            <a:off x="5547137" y="3926585"/>
            <a:ext cx="4004492" cy="1934330"/>
            <a:chOff x="6126479" y="1280160"/>
            <a:chExt cx="5248469" cy="214884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C4357678-8523-53F2-615B-CC28AC90D6EA}"/>
                </a:ext>
              </a:extLst>
            </p:cNvPr>
            <p:cNvSpPr/>
            <p:nvPr/>
          </p:nvSpPr>
          <p:spPr>
            <a:xfrm>
              <a:off x="6126479" y="1280160"/>
              <a:ext cx="5248469" cy="214884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37F416-09A8-258F-15CC-AE1577693AAB}"/>
                </a:ext>
              </a:extLst>
            </p:cNvPr>
            <p:cNvSpPr txBox="1"/>
            <p:nvPr/>
          </p:nvSpPr>
          <p:spPr>
            <a:xfrm>
              <a:off x="6355080" y="1965960"/>
              <a:ext cx="4846320" cy="812530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700" dirty="0">
                  <a:solidFill>
                    <a:srgbClr val="2B343E"/>
                  </a:solidFill>
                  <a:latin typeface="Aptos"/>
                </a:rPr>
                <a:t>τ ≈ 20 s indica um motor acionando uma carga com bastante inércia.</a:t>
              </a:r>
            </a:p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" name="Agrupar 4">
            <a:extLst>
              <a:ext uri="{FF2B5EF4-FFF2-40B4-BE49-F238E27FC236}">
                <a16:creationId xmlns:a16="http://schemas.microsoft.com/office/drawing/2014/main" id="{B41AB6EF-BC51-152C-A5B2-2505DC6CAA11}"/>
              </a:ext>
            </a:extLst>
          </p:cNvPr>
          <p:cNvGrpSpPr/>
          <p:nvPr/>
        </p:nvGrpSpPr>
        <p:grpSpPr>
          <a:xfrm>
            <a:off x="5547137" y="1484782"/>
            <a:ext cx="4004492" cy="2151047"/>
            <a:chOff x="731520" y="3790868"/>
            <a:chExt cx="5148070" cy="2151047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EBD569C-2811-DABA-E662-7366F6547F02}"/>
                </a:ext>
              </a:extLst>
            </p:cNvPr>
            <p:cNvSpPr/>
            <p:nvPr/>
          </p:nvSpPr>
          <p:spPr>
            <a:xfrm>
              <a:off x="731520" y="3790868"/>
              <a:ext cx="5148070" cy="2151047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Tempo de amostragem.</a:t>
              </a:r>
            </a:p>
            <a:p>
              <a:endPara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Filtragem da medição.</a:t>
              </a:r>
            </a:p>
            <a:p>
              <a:endPara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Atrito estático.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95411BB-51E0-4998-1D76-1F2B06CF3F66}"/>
                </a:ext>
              </a:extLst>
            </p:cNvPr>
            <p:cNvSpPr txBox="1"/>
            <p:nvPr/>
          </p:nvSpPr>
          <p:spPr>
            <a:xfrm>
              <a:off x="1033270" y="3887861"/>
              <a:ext cx="4846320" cy="304699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>
                <a:defRPr sz="1500" b="1">
                  <a:solidFill>
                    <a:srgbClr val="CD7731"/>
                  </a:solidFill>
                  <a:latin typeface="Aptos"/>
                </a:defRPr>
              </a:pPr>
              <a:r>
                <a:rPr lang="pt-BR" sz="1500" dirty="0">
                  <a:solidFill>
                    <a:srgbClr val="CD7731"/>
                  </a:solidFill>
                  <a:latin typeface="Aptos"/>
                </a:rPr>
                <a:t>De onde vem θ num motor</a:t>
              </a:r>
              <a:endParaRPr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07E2DCD2-5192-4AC9-A712-B63E31C08D6A}"/>
              </a:ext>
            </a:extLst>
          </p:cNvPr>
          <p:cNvGrpSpPr/>
          <p:nvPr/>
        </p:nvGrpSpPr>
        <p:grpSpPr>
          <a:xfrm>
            <a:off x="621793" y="3657913"/>
            <a:ext cx="3872078" cy="1856608"/>
            <a:chOff x="6830035" y="1396285"/>
            <a:chExt cx="4004492" cy="1934330"/>
          </a:xfrm>
        </p:grpSpPr>
        <p:grpSp>
          <p:nvGrpSpPr>
            <p:cNvPr id="21" name="Agrupar 20">
              <a:extLst>
                <a:ext uri="{FF2B5EF4-FFF2-40B4-BE49-F238E27FC236}">
                  <a16:creationId xmlns:a16="http://schemas.microsoft.com/office/drawing/2014/main" id="{C0E987F9-3645-A9F8-2970-CCA7125226C3}"/>
                </a:ext>
              </a:extLst>
            </p:cNvPr>
            <p:cNvGrpSpPr/>
            <p:nvPr/>
          </p:nvGrpSpPr>
          <p:grpSpPr>
            <a:xfrm>
              <a:off x="6830035" y="1396285"/>
              <a:ext cx="4004492" cy="1934330"/>
              <a:chOff x="6126479" y="1280160"/>
              <a:chExt cx="5248469" cy="2148840"/>
            </a:xfrm>
          </p:grpSpPr>
          <p:sp>
            <p:nvSpPr>
              <p:cNvPr id="22" name="Rounded Rectangle 8">
                <a:extLst>
                  <a:ext uri="{FF2B5EF4-FFF2-40B4-BE49-F238E27FC236}">
                    <a16:creationId xmlns:a16="http://schemas.microsoft.com/office/drawing/2014/main" id="{1E937703-FA27-B113-C8B5-57A0888F8FA1}"/>
                  </a:ext>
                </a:extLst>
              </p:cNvPr>
              <p:cNvSpPr/>
              <p:nvPr/>
            </p:nvSpPr>
            <p:spPr>
              <a:xfrm>
                <a:off x="6126479" y="1280160"/>
                <a:ext cx="5248469" cy="2148840"/>
              </a:xfrm>
              <a:prstGeom prst="roundRect">
                <a:avLst/>
              </a:prstGeom>
              <a:solidFill>
                <a:srgbClr val="F0F5F8"/>
              </a:solidFill>
              <a:ln>
                <a:solidFill>
                  <a:srgbClr val="DCE5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23" name="TextBox 10">
                <a:extLst>
                  <a:ext uri="{FF2B5EF4-FFF2-40B4-BE49-F238E27FC236}">
                    <a16:creationId xmlns:a16="http://schemas.microsoft.com/office/drawing/2014/main" id="{CE73B1F5-A6E9-29AE-AED1-B906A2DB7E26}"/>
                  </a:ext>
                </a:extLst>
              </p:cNvPr>
              <p:cNvSpPr txBox="1"/>
              <p:nvPr/>
            </p:nvSpPr>
            <p:spPr>
              <a:xfrm>
                <a:off x="6355080" y="1965961"/>
                <a:ext cx="4846320" cy="321393"/>
              </a:xfrm>
              <a:prstGeom prst="rect">
                <a:avLst/>
              </a:prstGeom>
              <a:noFill/>
            </p:spPr>
            <p:txBody>
              <a:bodyPr wrap="square" lIns="45720" tIns="36576" rIns="45720" bIns="36576" anchor="t">
                <a:sp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  <a:defRPr sz="1700" b="0">
                    <a:solidFill>
                      <a:srgbClr val="2B343E"/>
                    </a:solidFill>
                    <a:latin typeface="Aptos"/>
                  </a:defRPr>
                </a:pPr>
                <a:endParaRPr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26" name="Imagem 25">
              <a:extLst>
                <a:ext uri="{FF2B5EF4-FFF2-40B4-BE49-F238E27FC236}">
                  <a16:creationId xmlns:a16="http://schemas.microsoft.com/office/drawing/2014/main" id="{C5CA39D5-5415-BD86-98C1-B5D2D5C47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7118970" y="1778032"/>
              <a:ext cx="3426622" cy="1122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60060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F5ABB3-9648-7B64-B939-1832898FF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147D63-139E-D462-E0A7-791D53324B62}"/>
              </a:ext>
            </a:extLst>
          </p:cNvPr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Variáveis</a:t>
            </a:r>
            <a:r>
              <a:rPr dirty="0"/>
              <a:t> do </a:t>
            </a:r>
            <a:r>
              <a:rPr dirty="0" err="1"/>
              <a:t>processo</a:t>
            </a:r>
            <a:r>
              <a:rPr dirty="0"/>
              <a:t> e </a:t>
            </a:r>
            <a:r>
              <a:rPr dirty="0" err="1"/>
              <a:t>perturbações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42A8C7-2129-EED4-E3F5-A04CA6358E9F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E352AF0-3C18-E413-FE9E-A047E7B1AB07}"/>
              </a:ext>
            </a:extLst>
          </p:cNvPr>
          <p:cNvSpPr/>
          <p:nvPr/>
        </p:nvSpPr>
        <p:spPr>
          <a:xfrm>
            <a:off x="731520" y="1325713"/>
            <a:ext cx="5257800" cy="19659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64C10-DEA2-5884-78AB-131693B3F62D}"/>
              </a:ext>
            </a:extLst>
          </p:cNvPr>
          <p:cNvSpPr txBox="1"/>
          <p:nvPr/>
        </p:nvSpPr>
        <p:spPr>
          <a:xfrm>
            <a:off x="914400" y="1581485"/>
            <a:ext cx="7587916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Variável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controlada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– Velocidade (RPM)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A58F3-79D4-1F18-77C1-39BF12A26DC6}"/>
              </a:ext>
            </a:extLst>
          </p:cNvPr>
          <p:cNvSpPr txBox="1"/>
          <p:nvPr/>
        </p:nvSpPr>
        <p:spPr>
          <a:xfrm>
            <a:off x="914400" y="1965960"/>
            <a:ext cx="4846320" cy="98180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É a saída do motor que queremos controlar.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 sistema busca manter a rotação próxima ao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de 1800 RPM, usado como referência no projeto.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D6A10A4-06CA-4A53-48E5-E85E5114C853}"/>
              </a:ext>
            </a:extLst>
          </p:cNvPr>
          <p:cNvSpPr/>
          <p:nvPr/>
        </p:nvSpPr>
        <p:spPr>
          <a:xfrm>
            <a:off x="6126479" y="1280160"/>
            <a:ext cx="5248469" cy="19659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7F7469-1C81-FE83-66F6-7B1FB2CE4939}"/>
              </a:ext>
            </a:extLst>
          </p:cNvPr>
          <p:cNvSpPr txBox="1"/>
          <p:nvPr/>
        </p:nvSpPr>
        <p:spPr>
          <a:xfrm>
            <a:off x="6355080" y="1591056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Variável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manipulada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Duty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cycle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do PWM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7454BE-55EE-F2B1-02B2-C11178483CA8}"/>
              </a:ext>
            </a:extLst>
          </p:cNvPr>
          <p:cNvSpPr txBox="1"/>
          <p:nvPr/>
        </p:nvSpPr>
        <p:spPr>
          <a:xfrm>
            <a:off x="6355080" y="1965960"/>
            <a:ext cx="4846320" cy="1151084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Representa o comando de acionamento aplicado ao motor.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Ao aumentar ou diminuir esse comando, altera-se a energia fornecida ao motor e, consequentemente, sua velocidade.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5A2E70A-EBE5-FB60-FC81-94DAFF60D603}"/>
              </a:ext>
            </a:extLst>
          </p:cNvPr>
          <p:cNvSpPr/>
          <p:nvPr/>
        </p:nvSpPr>
        <p:spPr>
          <a:xfrm>
            <a:off x="731520" y="3474720"/>
            <a:ext cx="5148070" cy="24688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493776" rIns="18288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Carga mecânica (0 a 20% do acionamento): sem controle, derruba até ≈ 450 RPM.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Tensão de alimentação (±10%): ≈ ±180 RPM sem controle.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 (Ra até ≈ +20%) e atrito: mudam as perdas e a velocidade.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Ruído de medição: desvio de ≈ 10 RPM.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5275FE-A9B6-ECA4-3E6B-854160A2524A}"/>
              </a:ext>
            </a:extLst>
          </p:cNvPr>
          <p:cNvSpPr txBox="1"/>
          <p:nvPr/>
        </p:nvSpPr>
        <p:spPr>
          <a:xfrm>
            <a:off x="1033270" y="3571713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Perturbações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A50A84D-3DEC-9E09-B398-DF8D4FE469B9}"/>
              </a:ext>
            </a:extLst>
          </p:cNvPr>
          <p:cNvSpPr/>
          <p:nvPr/>
        </p:nvSpPr>
        <p:spPr>
          <a:xfrm>
            <a:off x="6135808" y="3474719"/>
            <a:ext cx="5248470" cy="24688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ADB8A2-8D00-E9D7-89AF-74A782DE7202}"/>
              </a:ext>
            </a:extLst>
          </p:cNvPr>
          <p:cNvSpPr txBox="1"/>
          <p:nvPr/>
        </p:nvSpPr>
        <p:spPr>
          <a:xfrm>
            <a:off x="6431280" y="3525910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B03D3D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Faixas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operação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2E6CA9-790E-66C6-B48F-80FB31A16A64}"/>
              </a:ext>
            </a:extLst>
          </p:cNvPr>
          <p:cNvSpPr txBox="1"/>
          <p:nvPr/>
        </p:nvSpPr>
        <p:spPr>
          <a:xfrm>
            <a:off x="6355080" y="3917465"/>
            <a:ext cx="4846320" cy="139730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Velocidade: 0 a ≈ 2250 RPM (k × 100%), com operação em 1800 RPM.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Acionamento: 0 a 100% de PWM; o ensaio usou 80%.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 limite real depende da tensão do motor e da corrente do driver.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endParaRPr lang="pt-B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FF870-1498-1EE4-C080-6FB4DCF12C94}"/>
              </a:ext>
            </a:extLst>
          </p:cNvPr>
          <p:cNvSpPr txBox="1"/>
          <p:nvPr/>
        </p:nvSpPr>
        <p:spPr>
          <a:xfrm>
            <a:off x="859349" y="6080760"/>
            <a:ext cx="10515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600" b="1">
                <a:solidFill>
                  <a:srgbClr val="182B45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PID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compara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velocidade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com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ajusta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acionamento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reduzir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erro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9564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 err="1"/>
              <a:t>Dataset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3749040" cy="24688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86600" y="1463040"/>
            <a:ext cx="3383280" cy="316413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Motor_G2.mat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995160" y="1874520"/>
            <a:ext cx="3474720" cy="163020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spcBef>
                <a:spcPts val="900"/>
              </a:spcBef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1501 amostras, de 0 a 150 s</a:t>
            </a:r>
          </a:p>
          <a:p>
            <a:pPr marL="285750" indent="-285750" algn="l">
              <a:spcBef>
                <a:spcPts val="900"/>
              </a:spcBef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Uma amostra a cada 0,1 s</a:t>
            </a:r>
          </a:p>
          <a:p>
            <a:pPr marL="285750" indent="-285750" algn="l">
              <a:spcBef>
                <a:spcPts val="900"/>
              </a:spcBef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Degrau de 0 a 80% em t = 10 s</a:t>
            </a:r>
          </a:p>
          <a:p>
            <a:pPr marL="285750" indent="-285750" algn="l">
              <a:spcBef>
                <a:spcPts val="900"/>
              </a:spcBef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Saída de ≈ 0 a 1797 RPM (Δy ≈ 1798 RPM)</a:t>
            </a:r>
          </a:p>
          <a:p>
            <a:pPr marL="285750" indent="-285750" algn="l">
              <a:spcBef>
                <a:spcPts val="900"/>
              </a:spcBef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Ruído de medição de ≈ 10 RPM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52443D1-4CE6-42B1-F3FF-BFA2A9A94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6126480" cy="3829049"/>
          </a:xfrm>
          <a:prstGeom prst="rect">
            <a:avLst/>
          </a:prstGeom>
        </p:spPr>
      </p:pic>
      <p:sp>
        <p:nvSpPr>
          <p:cNvPr id="6002" name="Rounded Rectangle 5"/>
          <p:cNvSpPr/>
          <p:nvPr/>
        </p:nvSpPr>
        <p:spPr>
          <a:xfrm>
            <a:off x="6858000" y="4069080"/>
            <a:ext cx="3749040" cy="114300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03" name="TextBox 6"/>
          <p:cNvSpPr txBox="1"/>
          <p:nvPr/>
        </p:nvSpPr>
        <p:spPr>
          <a:xfrm>
            <a:off x="7086600" y="4123944"/>
            <a:ext cx="3383280" cy="37956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Ganho estático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04" name="TextBox 6003"/>
          <p:cNvSpPr txBox="1"/>
          <p:nvPr/>
        </p:nvSpPr>
        <p:spPr>
          <a:xfrm>
            <a:off x="7086600" y="44805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82B45"/>
                </a:solidFill>
                <a:latin typeface="Arial"/>
              </a:rPr>
              <a:t>k = Δy/Δu ≈ 1798/80</a:t>
            </a:r>
          </a:p>
          <a:p>
            <a:r>
              <a:rPr sz="1600" b="1">
                <a:solidFill>
                  <a:srgbClr val="182B45"/>
                </a:solidFill>
                <a:latin typeface="Arial"/>
              </a:rPr>
              <a:t>k ≈ 22,5 RPM/%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1F77E4-BA53-0FB4-E701-8B420A79E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C04E18-E261-BE10-B838-2AF46A02074B}"/>
              </a:ext>
            </a:extLst>
          </p:cNvPr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Métodos</a:t>
            </a:r>
            <a:r>
              <a:rPr dirty="0"/>
              <a:t> de </a:t>
            </a:r>
            <a:r>
              <a:rPr dirty="0" err="1"/>
              <a:t>identificação</a:t>
            </a:r>
            <a:r>
              <a:rPr dirty="0"/>
              <a:t>: Smith e </a:t>
            </a:r>
            <a:r>
              <a:rPr dirty="0" err="1"/>
              <a:t>Sundaresan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15ECD5-9010-6CB9-0E07-A7ACC3966873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C59A055-DC60-0F53-4602-ED44AEC8BF99}"/>
              </a:ext>
            </a:extLst>
          </p:cNvPr>
          <p:cNvSpPr/>
          <p:nvPr/>
        </p:nvSpPr>
        <p:spPr>
          <a:xfrm>
            <a:off x="566930" y="1653628"/>
            <a:ext cx="5254750" cy="2441772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C5124-C0B3-39B9-09BB-2463CDA4E52C}"/>
              </a:ext>
            </a:extLst>
          </p:cNvPr>
          <p:cNvSpPr txBox="1"/>
          <p:nvPr/>
        </p:nvSpPr>
        <p:spPr>
          <a:xfrm>
            <a:off x="987552" y="1750532"/>
            <a:ext cx="4800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feito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AB2D7C-ED63-155E-9EFC-8302EAC51B05}"/>
              </a:ext>
            </a:extLst>
          </p:cNvPr>
          <p:cNvSpPr txBox="1"/>
          <p:nvPr/>
        </p:nvSpPr>
        <p:spPr>
          <a:xfrm>
            <a:off x="868680" y="2342125"/>
            <a:ext cx="4800600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Comparamos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dois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métodos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identificação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Smith 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Sundaresan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Depois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obter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avaliamos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erro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quadrático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médio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chamado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EQM.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Esse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indicador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verificar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qual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representa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melhor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dados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medidos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do motor.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5AB5763-CA41-DF28-0EDC-67BE541C8534}"/>
              </a:ext>
            </a:extLst>
          </p:cNvPr>
          <p:cNvSpPr/>
          <p:nvPr/>
        </p:nvSpPr>
        <p:spPr>
          <a:xfrm>
            <a:off x="6038088" y="1653628"/>
            <a:ext cx="5254750" cy="2441772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4DE793-9148-78C2-E2EB-AF93F270AB60}"/>
              </a:ext>
            </a:extLst>
          </p:cNvPr>
          <p:cNvSpPr txBox="1"/>
          <p:nvPr/>
        </p:nvSpPr>
        <p:spPr>
          <a:xfrm>
            <a:off x="6309359" y="1763351"/>
            <a:ext cx="49834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Como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interpretar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EQM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A53D75-CAA4-16C5-1E93-E493A02F65CF}"/>
              </a:ext>
            </a:extLst>
          </p:cNvPr>
          <p:cNvSpPr txBox="1"/>
          <p:nvPr/>
        </p:nvSpPr>
        <p:spPr>
          <a:xfrm>
            <a:off x="6103618" y="2321899"/>
            <a:ext cx="4983479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EQM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diferença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entre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calculada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resposta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real.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Quanto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valor,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melhor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ajuste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dados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deste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ensaio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EQM,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sozinho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não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garante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que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seja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perfeito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outras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condições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001" name="Rounded Rectangle 5">
            <a:extLst>
              <a:ext uri="{FF2B5EF4-FFF2-40B4-BE49-F238E27FC236}">
                <a16:creationId xmlns:a16="http://schemas.microsoft.com/office/drawing/2014/main" id="{2C59A055-DC60-0F53-4602-ED44AEC8BF99}"/>
              </a:ext>
            </a:extLst>
          </p:cNvPr>
          <p:cNvSpPr/>
          <p:nvPr/>
        </p:nvSpPr>
        <p:spPr>
          <a:xfrm>
            <a:off x="566930" y="4297680"/>
            <a:ext cx="5254750" cy="182880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2" name="TextBox 6">
            <a:extLst>
              <a:ext uri="{FF2B5EF4-FFF2-40B4-BE49-F238E27FC236}">
                <a16:creationId xmlns:a16="http://schemas.microsoft.com/office/drawing/2014/main" id="{262C5124-C0B3-39B9-09BB-2463CDA4E52C}"/>
              </a:ext>
            </a:extLst>
          </p:cNvPr>
          <p:cNvSpPr txBox="1"/>
          <p:nvPr/>
        </p:nvSpPr>
        <p:spPr>
          <a:xfrm>
            <a:off x="987552" y="4407408"/>
            <a:ext cx="4800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Smith: pontos de 28,3% e 63,2%</a:t>
            </a:r>
          </a:p>
        </p:txBody>
      </p:sp>
      <p:pic>
        <p:nvPicPr>
          <p:cNvPr id="5003" name="Picture 5002" descr="formula_smi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85" y="5261485"/>
            <a:ext cx="4206240" cy="449829"/>
          </a:xfrm>
          <a:prstGeom prst="rect">
            <a:avLst/>
          </a:prstGeom>
        </p:spPr>
      </p:pic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2C59A055-DC60-0F53-4602-ED44AEC8BF99}"/>
              </a:ext>
            </a:extLst>
          </p:cNvPr>
          <p:cNvSpPr/>
          <p:nvPr/>
        </p:nvSpPr>
        <p:spPr>
          <a:xfrm>
            <a:off x="6038088" y="4297680"/>
            <a:ext cx="5254750" cy="182880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4" name="TextBox 6">
            <a:extLst>
              <a:ext uri="{FF2B5EF4-FFF2-40B4-BE49-F238E27FC236}">
                <a16:creationId xmlns:a16="http://schemas.microsoft.com/office/drawing/2014/main" id="{262C5124-C0B3-39B9-09BB-2463CDA4E52C}"/>
              </a:ext>
            </a:extLst>
          </p:cNvPr>
          <p:cNvSpPr txBox="1"/>
          <p:nvPr/>
        </p:nvSpPr>
        <p:spPr>
          <a:xfrm>
            <a:off x="6458710" y="4407408"/>
            <a:ext cx="4800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Sundaresan: pontos de 35,3% e 85,3%</a:t>
            </a:r>
          </a:p>
        </p:txBody>
      </p:sp>
      <p:pic>
        <p:nvPicPr>
          <p:cNvPr id="5005" name="Picture 5004" descr="formula_sundares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183" y="5193619"/>
            <a:ext cx="4480560" cy="585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65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FDA008A-9646-41EC-9F73-9E42188FB0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0"/>
          <a:stretch>
            <a:fillRect/>
          </a:stretch>
        </p:blipFill>
        <p:spPr>
          <a:xfrm>
            <a:off x="594360" y="1188720"/>
            <a:ext cx="7874143" cy="4937760"/>
          </a:xfrm>
          <a:prstGeom prst="rect">
            <a:avLst/>
          </a:prstGeom>
        </p:spPr>
      </p:pic>
      <p:sp>
        <p:nvSpPr>
          <p:cNvPr id="5005" name="TextBox 1">
            <a:extLst>
              <a:ext uri="{FF2B5EF4-FFF2-40B4-BE49-F238E27FC236}">
                <a16:creationId xmlns:a16="http://schemas.microsoft.com/office/drawing/2014/main" id="{47C04E18-E261-BE10-B838-2AF46A02074B}"/>
              </a:ext>
            </a:extLst>
          </p:cNvPr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Smith acompanha melhor a curva real</a:t>
            </a:r>
            <a:endParaRPr dirty="0"/>
          </a:p>
        </p:txBody>
      </p:sp>
      <p:sp>
        <p:nvSpPr>
          <p:cNvPr id="5006" name="Rectangle 2">
            <a:extLst>
              <a:ext uri="{FF2B5EF4-FFF2-40B4-BE49-F238E27FC236}">
                <a16:creationId xmlns:a16="http://schemas.microsoft.com/office/drawing/2014/main" id="{4715ECD5-9010-6CB9-0E07-A7ACC3966873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7" name="Rounded Rectangle 14"/>
          <p:cNvSpPr/>
          <p:nvPr/>
        </p:nvSpPr>
        <p:spPr>
          <a:xfrm>
            <a:off x="8686800" y="1554480"/>
            <a:ext cx="2743200" cy="28346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8" name="TextBox 15"/>
          <p:cNvSpPr txBox="1"/>
          <p:nvPr/>
        </p:nvSpPr>
        <p:spPr>
          <a:xfrm>
            <a:off x="8869680" y="1682496"/>
            <a:ext cx="237744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t>Por que Smith?</a:t>
            </a:r>
          </a:p>
        </p:txBody>
      </p:sp>
      <p:sp>
        <p:nvSpPr>
          <p:cNvPr id="5009" name="TextBox 16"/>
          <p:cNvSpPr txBox="1"/>
          <p:nvPr/>
        </p:nvSpPr>
        <p:spPr>
          <a:xfrm>
            <a:off x="8869680" y="2057400"/>
            <a:ext cx="2377440" cy="228600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r>
              <a:t>Menor EQM: 10,46 contra 16,37 RPM.</a:t>
            </a:r>
          </a:p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endParaRPr/>
          </a:p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r>
              <a:t>O ponto de 85,3% do Sundaresan fica na parte achatada da curva, onde o ruído desloca o cruzamento. Por isso o θ saiu maior: 3,21 s contra 2,47 s.</a:t>
            </a:r>
          </a:p>
        </p:txBody>
      </p:sp>
    </p:spTree>
    <p:extLst>
      <p:ext uri="{BB962C8B-B14F-4D97-AF65-F5344CB8AC3E}">
        <p14:creationId xmlns:p14="http://schemas.microsoft.com/office/powerpoint/2010/main" val="2758842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t>Resultado da identificação e ajuste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8813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100" b="0">
                <a:solidFill>
                  <a:srgbClr val="5D6A78"/>
                </a:solidFill>
                <a:latin typeface="Aptos"/>
              </a:defRPr>
            </a:pPr>
            <a:r>
              <a:rPr dirty="0"/>
              <a:t>Smith teve o menor EQM entre os dois métodos. O ajuste fino reduziu ainda mais o erro e virou o modelo usado no projeto.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16847E"/>
                </a:solidFill>
                <a:latin typeface="Aptos"/>
              </a:defRPr>
            </a:pPr>
            <a:r>
              <a:t>SMITH • EQM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10,4641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386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2F69A4"/>
                </a:solidFill>
                <a:latin typeface="Aptos"/>
              </a:defRPr>
            </a:pPr>
            <a:r>
              <a:t>SUNDARESAN • EQM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386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16,3748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990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CD7731"/>
                </a:solidFill>
                <a:latin typeface="Aptos"/>
              </a:defRPr>
            </a:pPr>
            <a:r>
              <a:t>AJUSTE FINO • EQM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990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10,0954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463040"/>
            <a:ext cx="2788920" cy="19202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32519" y="1591056"/>
            <a:ext cx="24231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t>Por que ajustar?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1965960"/>
            <a:ext cx="2423160" cy="129844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r>
              <a:t>O ajuste fino modifica os parâmetros para reduzir ainda mais a diferença entre o modelo e os dados medidos.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657600"/>
            <a:ext cx="3108960" cy="19659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0" y="3785615"/>
            <a:ext cx="274320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t>Modelo adotado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160520"/>
            <a:ext cx="2743200" cy="9326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600" b="0">
                <a:solidFill>
                  <a:srgbClr val="2B343E"/>
                </a:solidFill>
                <a:latin typeface="Aptos"/>
              </a:defRPr>
            </a:pPr>
            <a:r>
              <a:t>k = 22,4987</a:t>
            </a:r>
            <a:br/>
            <a:r>
              <a:t>τ = 19,9705 s</a:t>
            </a:r>
            <a:br/>
            <a:r>
              <a:t>θ = 2,5369 s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sz="1200" i="1">
                <a:solidFill>
                  <a:srgbClr val="5A6772"/>
                </a:solidFill>
              </a:rPr>
              <a:t>Valores do ensaio: k = 22,5; τ = 20 s; θ = 2,5 s</a:t>
            </a: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BC016C3C-5768-3348-99B1-97BCA122B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94" y="2606040"/>
            <a:ext cx="7856525" cy="32735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C833DE-C371-491A-9E47-099018BBF2C2}"/>
              </a:ext>
            </a:extLst>
          </p:cNvPr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sz="2700" b="1" dirty="0"/>
              <a:t>Instrumentação: sensores e atuadores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34A697-2627-4953-9837-7EA4942AAAAF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9A7AAA4C-6DCC-4376-BEB6-A622112BD5B9}"/>
              </a:ext>
            </a:extLst>
          </p:cNvPr>
          <p:cNvSpPr txBox="1"/>
          <p:nvPr/>
        </p:nvSpPr>
        <p:spPr>
          <a:xfrm>
            <a:off x="594360" y="1039206"/>
            <a:ext cx="11318240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b="1" dirty="0">
                <a:solidFill>
                  <a:srgbClr val="508927"/>
                </a:solidFill>
                <a:latin typeface="+mj-lt"/>
              </a:rPr>
              <a:t>Como o sistema mede e controla a velocidade?</a:t>
            </a:r>
            <a:endParaRPr sz="1600" dirty="0">
              <a:solidFill>
                <a:srgbClr val="508927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442F845-60B2-45B5-A46C-7604EA948233}"/>
              </a:ext>
            </a:extLst>
          </p:cNvPr>
          <p:cNvSpPr/>
          <p:nvPr/>
        </p:nvSpPr>
        <p:spPr>
          <a:xfrm>
            <a:off x="3698240" y="2829060"/>
            <a:ext cx="7683500" cy="109728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2FB7E79D-3F93-49DD-80A2-C78C6FFDF76E}"/>
              </a:ext>
            </a:extLst>
          </p:cNvPr>
          <p:cNvSpPr txBox="1"/>
          <p:nvPr/>
        </p:nvSpPr>
        <p:spPr>
          <a:xfrm>
            <a:off x="6355080" y="1684138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Sensor de Velocidade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33AAD70E-D60C-4C37-A453-77A6E390F901}"/>
              </a:ext>
            </a:extLst>
          </p:cNvPr>
          <p:cNvSpPr txBox="1"/>
          <p:nvPr/>
        </p:nvSpPr>
        <p:spPr>
          <a:xfrm>
            <a:off x="5859780" y="2004226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600" dirty="0" err="1"/>
              <a:t>Encoder</a:t>
            </a:r>
            <a:r>
              <a:rPr lang="pt-BR" sz="1600" dirty="0"/>
              <a:t>, </a:t>
            </a:r>
            <a:r>
              <a:rPr lang="pt-BR" sz="1600" dirty="0" err="1"/>
              <a:t>tacogerador</a:t>
            </a:r>
            <a:r>
              <a:rPr lang="pt-BR" sz="1600" dirty="0"/>
              <a:t> ou sensor Hall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riângulo isósceles 12">
            <a:extLst>
              <a:ext uri="{FF2B5EF4-FFF2-40B4-BE49-F238E27FC236}">
                <a16:creationId xmlns:a16="http://schemas.microsoft.com/office/drawing/2014/main" id="{309E9D35-8088-4F11-83B1-E386BABDDC62}"/>
              </a:ext>
            </a:extLst>
          </p:cNvPr>
          <p:cNvSpPr/>
          <p:nvPr/>
        </p:nvSpPr>
        <p:spPr>
          <a:xfrm rot="10800000">
            <a:off x="7139940" y="2471169"/>
            <a:ext cx="482600" cy="14827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TextBox 7">
            <a:extLst>
              <a:ext uri="{FF2B5EF4-FFF2-40B4-BE49-F238E27FC236}">
                <a16:creationId xmlns:a16="http://schemas.microsoft.com/office/drawing/2014/main" id="{B18A09A7-BED8-4EC3-8E9B-23622093F7DE}"/>
              </a:ext>
            </a:extLst>
          </p:cNvPr>
          <p:cNvSpPr txBox="1"/>
          <p:nvPr/>
        </p:nvSpPr>
        <p:spPr>
          <a:xfrm>
            <a:off x="6080760" y="4431086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Driver + PWM → Motor CC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19220FF8-B9D6-451A-B325-1ECAC3237C2C}"/>
              </a:ext>
            </a:extLst>
          </p:cNvPr>
          <p:cNvSpPr txBox="1"/>
          <p:nvPr/>
        </p:nvSpPr>
        <p:spPr>
          <a:xfrm>
            <a:off x="5859780" y="4758868"/>
            <a:ext cx="3611879" cy="30469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500" dirty="0"/>
              <a:t>Ajuste do acionamento e da velocidade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7">
            <a:extLst>
              <a:ext uri="{FF2B5EF4-FFF2-40B4-BE49-F238E27FC236}">
                <a16:creationId xmlns:a16="http://schemas.microsoft.com/office/drawing/2014/main" id="{41121190-3D92-4C1A-8212-6880490427B3}"/>
              </a:ext>
            </a:extLst>
          </p:cNvPr>
          <p:cNvSpPr txBox="1"/>
          <p:nvPr/>
        </p:nvSpPr>
        <p:spPr>
          <a:xfrm>
            <a:off x="6515100" y="3092686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Controlador PID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88A21BC5-5845-41ED-88CB-2C07753622E2}"/>
              </a:ext>
            </a:extLst>
          </p:cNvPr>
          <p:cNvSpPr txBox="1"/>
          <p:nvPr/>
        </p:nvSpPr>
        <p:spPr>
          <a:xfrm>
            <a:off x="5599430" y="3424346"/>
            <a:ext cx="4605020" cy="30469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500" dirty="0"/>
              <a:t>Compara a velocidade medida com o </a:t>
            </a:r>
            <a:r>
              <a:rPr lang="pt-BR" sz="1500" dirty="0" err="1"/>
              <a:t>SetPoint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8">
            <a:extLst>
              <a:ext uri="{FF2B5EF4-FFF2-40B4-BE49-F238E27FC236}">
                <a16:creationId xmlns:a16="http://schemas.microsoft.com/office/drawing/2014/main" id="{C4681891-750B-4503-85F8-A43AE441E1E0}"/>
              </a:ext>
            </a:extLst>
          </p:cNvPr>
          <p:cNvSpPr txBox="1"/>
          <p:nvPr/>
        </p:nvSpPr>
        <p:spPr>
          <a:xfrm>
            <a:off x="943359" y="5215110"/>
            <a:ext cx="3611879" cy="535531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500" dirty="0"/>
              <a:t>A velocidade medida retorna ao controlador, formando a realimentação.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E0481A7A-6122-4472-8962-39C40B8B3A76}"/>
              </a:ext>
            </a:extLst>
          </p:cNvPr>
          <p:cNvSpPr/>
          <p:nvPr/>
        </p:nvSpPr>
        <p:spPr>
          <a:xfrm rot="5400000">
            <a:off x="348998" y="5482875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riângulo isósceles 19">
            <a:extLst>
              <a:ext uri="{FF2B5EF4-FFF2-40B4-BE49-F238E27FC236}">
                <a16:creationId xmlns:a16="http://schemas.microsoft.com/office/drawing/2014/main" id="{CDF0E8E5-75EC-4FB6-8E1B-F9AB707B89B4}"/>
              </a:ext>
            </a:extLst>
          </p:cNvPr>
          <p:cNvSpPr/>
          <p:nvPr/>
        </p:nvSpPr>
        <p:spPr>
          <a:xfrm rot="10800000">
            <a:off x="7123723" y="4097690"/>
            <a:ext cx="482600" cy="14827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7495F9FD-EE34-44C5-BFF4-F33BBA240ED2}"/>
              </a:ext>
            </a:extLst>
          </p:cNvPr>
          <p:cNvSpPr txBox="1"/>
          <p:nvPr/>
        </p:nvSpPr>
        <p:spPr>
          <a:xfrm>
            <a:off x="689612" y="1788783"/>
            <a:ext cx="2729449" cy="253607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r>
              <a:rPr lang="pt-BR" sz="1600" dirty="0"/>
              <a:t>Para controlar a velocidade do motor, precisamos medir sua rotação e ajustar a alimentação conforme o erro em relação ao </a:t>
            </a:r>
            <a:r>
              <a:rPr lang="pt-BR" sz="1600" dirty="0" err="1"/>
              <a:t>SetPoint</a:t>
            </a:r>
            <a:r>
              <a:rPr lang="pt-BR" sz="1600" dirty="0"/>
              <a:t>. </a:t>
            </a:r>
          </a:p>
          <a:p>
            <a:endParaRPr lang="pt-BR" sz="1600" dirty="0"/>
          </a:p>
          <a:p>
            <a:r>
              <a:rPr lang="pt-BR" sz="1600" dirty="0"/>
              <a:t>Em uma aplicação real, isso pode ser feito com sensores de velocidade e um driver controlado por PWM.</a:t>
            </a:r>
          </a:p>
        </p:txBody>
      </p:sp>
    </p:spTree>
    <p:extLst>
      <p:ext uri="{BB962C8B-B14F-4D97-AF65-F5344CB8AC3E}">
        <p14:creationId xmlns:p14="http://schemas.microsoft.com/office/powerpoint/2010/main" val="2024263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C833DE-C371-491A-9E47-099018BBF2C2}"/>
              </a:ext>
            </a:extLst>
          </p:cNvPr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sz="2700" b="1" dirty="0"/>
              <a:t>Malha aberta X malha fechada</a:t>
            </a:r>
            <a:endParaRPr lang="pt-B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34A697-2627-4953-9837-7EA4942AAAAF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9A7AAA4C-6DCC-4376-BEB6-A622112BD5B9}"/>
              </a:ext>
            </a:extLst>
          </p:cNvPr>
          <p:cNvSpPr txBox="1"/>
          <p:nvPr/>
        </p:nvSpPr>
        <p:spPr>
          <a:xfrm>
            <a:off x="594360" y="1033111"/>
            <a:ext cx="11318240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b="1" dirty="0">
                <a:solidFill>
                  <a:srgbClr val="508927"/>
                </a:solidFill>
                <a:latin typeface="+mj-lt"/>
              </a:rPr>
              <a:t>Comparação das respostas do motor</a:t>
            </a:r>
            <a:endParaRPr sz="1600" dirty="0">
              <a:solidFill>
                <a:srgbClr val="508927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1026" name="Picture 2" descr="comparacao_malhas.png">
            <a:extLst>
              <a:ext uri="{FF2B5EF4-FFF2-40B4-BE49-F238E27FC236}">
                <a16:creationId xmlns:a16="http://schemas.microsoft.com/office/drawing/2014/main" id="{4742709E-B64F-462A-9D00-7726D7B99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7130" y="1302417"/>
            <a:ext cx="6664568" cy="3702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7">
            <a:extLst>
              <a:ext uri="{FF2B5EF4-FFF2-40B4-BE49-F238E27FC236}">
                <a16:creationId xmlns:a16="http://schemas.microsoft.com/office/drawing/2014/main" id="{56029934-9042-47A9-8D76-494B44D31590}"/>
              </a:ext>
            </a:extLst>
          </p:cNvPr>
          <p:cNvSpPr txBox="1"/>
          <p:nvPr/>
        </p:nvSpPr>
        <p:spPr>
          <a:xfrm>
            <a:off x="594360" y="1742185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rgbClr val="599AC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Malha Aberta</a:t>
            </a:r>
            <a:endParaRPr sz="1600" dirty="0">
              <a:solidFill>
                <a:srgbClr val="599AC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8">
            <a:extLst>
              <a:ext uri="{FF2B5EF4-FFF2-40B4-BE49-F238E27FC236}">
                <a16:creationId xmlns:a16="http://schemas.microsoft.com/office/drawing/2014/main" id="{495D1ADD-452A-4E92-AF21-2A5D262E082A}"/>
              </a:ext>
            </a:extLst>
          </p:cNvPr>
          <p:cNvSpPr txBox="1"/>
          <p:nvPr/>
        </p:nvSpPr>
        <p:spPr>
          <a:xfrm>
            <a:off x="594361" y="2387915"/>
            <a:ext cx="3611879" cy="30469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500" dirty="0"/>
              <a:t>Tempo de subida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7">
            <a:extLst>
              <a:ext uri="{FF2B5EF4-FFF2-40B4-BE49-F238E27FC236}">
                <a16:creationId xmlns:a16="http://schemas.microsoft.com/office/drawing/2014/main" id="{8CC72888-AA0F-44EE-9DFD-0630BC4D7015}"/>
              </a:ext>
            </a:extLst>
          </p:cNvPr>
          <p:cNvSpPr txBox="1"/>
          <p:nvPr/>
        </p:nvSpPr>
        <p:spPr>
          <a:xfrm>
            <a:off x="594361" y="2067827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43,88 s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61024717-D7B1-4F9C-8DB1-01DF009476B9}"/>
              </a:ext>
            </a:extLst>
          </p:cNvPr>
          <p:cNvSpPr txBox="1"/>
          <p:nvPr/>
        </p:nvSpPr>
        <p:spPr>
          <a:xfrm>
            <a:off x="2780127" y="1734541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rgbClr val="FFA14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Malha Fechada</a:t>
            </a:r>
            <a:endParaRPr sz="1600" dirty="0">
              <a:solidFill>
                <a:srgbClr val="FFA14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17A65D34-0104-48BF-8E81-1B3C34DBA56C}"/>
              </a:ext>
            </a:extLst>
          </p:cNvPr>
          <p:cNvSpPr txBox="1"/>
          <p:nvPr/>
        </p:nvSpPr>
        <p:spPr>
          <a:xfrm>
            <a:off x="2780128" y="2380271"/>
            <a:ext cx="3611879" cy="30469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500" dirty="0"/>
              <a:t>Tempo de subida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E81B6992-6AAD-4F4C-A551-B73520E59BA6}"/>
              </a:ext>
            </a:extLst>
          </p:cNvPr>
          <p:cNvSpPr txBox="1"/>
          <p:nvPr/>
        </p:nvSpPr>
        <p:spPr>
          <a:xfrm>
            <a:off x="2780128" y="2060183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3,45 s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BCFF851E-7460-4908-92B8-D43374D1DA9D}"/>
              </a:ext>
            </a:extLst>
          </p:cNvPr>
          <p:cNvSpPr txBox="1"/>
          <p:nvPr/>
        </p:nvSpPr>
        <p:spPr>
          <a:xfrm>
            <a:off x="594361" y="3232402"/>
            <a:ext cx="3611879" cy="30469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500" dirty="0"/>
              <a:t>Tempo de acomodação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573DA7AE-0F0A-42BF-AD09-6428070109D8}"/>
              </a:ext>
            </a:extLst>
          </p:cNvPr>
          <p:cNvSpPr txBox="1"/>
          <p:nvPr/>
        </p:nvSpPr>
        <p:spPr>
          <a:xfrm>
            <a:off x="594361" y="2912314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80,71 s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496C6A0F-235C-48D1-85A2-AE67FE4E2940}"/>
              </a:ext>
            </a:extLst>
          </p:cNvPr>
          <p:cNvSpPr txBox="1"/>
          <p:nvPr/>
        </p:nvSpPr>
        <p:spPr>
          <a:xfrm>
            <a:off x="2780128" y="3224758"/>
            <a:ext cx="3611879" cy="30469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500" dirty="0"/>
              <a:t>Tempo de acomodação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7">
            <a:extLst>
              <a:ext uri="{FF2B5EF4-FFF2-40B4-BE49-F238E27FC236}">
                <a16:creationId xmlns:a16="http://schemas.microsoft.com/office/drawing/2014/main" id="{8D8793E6-7111-410F-B09C-339E34EDE6DF}"/>
              </a:ext>
            </a:extLst>
          </p:cNvPr>
          <p:cNvSpPr txBox="1"/>
          <p:nvPr/>
        </p:nvSpPr>
        <p:spPr>
          <a:xfrm>
            <a:off x="2780128" y="2904670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13,53 s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8">
            <a:extLst>
              <a:ext uri="{FF2B5EF4-FFF2-40B4-BE49-F238E27FC236}">
                <a16:creationId xmlns:a16="http://schemas.microsoft.com/office/drawing/2014/main" id="{9D4CE47B-00E4-4F5E-AA3C-EE21820C0C06}"/>
              </a:ext>
            </a:extLst>
          </p:cNvPr>
          <p:cNvSpPr txBox="1"/>
          <p:nvPr/>
        </p:nvSpPr>
        <p:spPr>
          <a:xfrm>
            <a:off x="594361" y="3537202"/>
            <a:ext cx="3611879" cy="30469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500" dirty="0"/>
              <a:t>Erro ≈ 0 RPM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8">
            <a:extLst>
              <a:ext uri="{FF2B5EF4-FFF2-40B4-BE49-F238E27FC236}">
                <a16:creationId xmlns:a16="http://schemas.microsoft.com/office/drawing/2014/main" id="{D7E26023-46A6-4329-A348-A3A842590B3E}"/>
              </a:ext>
            </a:extLst>
          </p:cNvPr>
          <p:cNvSpPr txBox="1"/>
          <p:nvPr/>
        </p:nvSpPr>
        <p:spPr>
          <a:xfrm>
            <a:off x="2780126" y="3552490"/>
            <a:ext cx="3611879" cy="30469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500" dirty="0"/>
              <a:t>Erro ≈ 327,29 RPM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8">
            <a:extLst>
              <a:ext uri="{FF2B5EF4-FFF2-40B4-BE49-F238E27FC236}">
                <a16:creationId xmlns:a16="http://schemas.microsoft.com/office/drawing/2014/main" id="{2CE5B77A-462A-4C46-9B58-C36248970B88}"/>
              </a:ext>
            </a:extLst>
          </p:cNvPr>
          <p:cNvSpPr txBox="1"/>
          <p:nvPr/>
        </p:nvSpPr>
        <p:spPr>
          <a:xfrm>
            <a:off x="594361" y="4334913"/>
            <a:ext cx="4772769" cy="204363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r>
              <a:rPr lang="pt-BR" sz="1600" dirty="0"/>
              <a:t>A malha aberta não corrige automaticamente os desvios, enquanto a malha fechada utiliza a saída medida para ajustar o controle. </a:t>
            </a:r>
          </a:p>
          <a:p>
            <a:endParaRPr lang="pt-BR" sz="1600" dirty="0"/>
          </a:p>
          <a:p>
            <a:r>
              <a:rPr lang="pt-BR" sz="1600" dirty="0"/>
              <a:t>Na simulação, a malha fechada apresentou resposta mais rápida, mas o controlador proporcional não eliminou o erro em regime permanente.</a:t>
            </a:r>
          </a:p>
        </p:txBody>
      </p:sp>
    </p:spTree>
    <p:extLst>
      <p:ext uri="{BB962C8B-B14F-4D97-AF65-F5344CB8AC3E}">
        <p14:creationId xmlns:p14="http://schemas.microsoft.com/office/powerpoint/2010/main" val="2815037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C833DE-C371-491A-9E47-099018BBF2C2}"/>
              </a:ext>
            </a:extLst>
          </p:cNvPr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sz="2700" b="1" dirty="0"/>
              <a:t>Sintonia PID: Ziegler–</a:t>
            </a:r>
            <a:r>
              <a:rPr lang="pt-BR" sz="2700" b="1" dirty="0" err="1"/>
              <a:t>Nichols</a:t>
            </a:r>
            <a:endParaRPr lang="pt-B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34A697-2627-4953-9837-7EA4942AAAAF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9A7AAA4C-6DCC-4376-BEB6-A622112BD5B9}"/>
              </a:ext>
            </a:extLst>
          </p:cNvPr>
          <p:cNvSpPr txBox="1"/>
          <p:nvPr/>
        </p:nvSpPr>
        <p:spPr>
          <a:xfrm>
            <a:off x="594360" y="1033111"/>
            <a:ext cx="11318240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b="1" dirty="0">
                <a:solidFill>
                  <a:srgbClr val="508927"/>
                </a:solidFill>
                <a:latin typeface="+mj-lt"/>
              </a:rPr>
              <a:t>Resultados</a:t>
            </a:r>
            <a:endParaRPr sz="1600" dirty="0">
              <a:solidFill>
                <a:srgbClr val="508927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56029934-9042-47A9-8D76-494B44D31590}"/>
              </a:ext>
            </a:extLst>
          </p:cNvPr>
          <p:cNvSpPr txBox="1"/>
          <p:nvPr/>
        </p:nvSpPr>
        <p:spPr>
          <a:xfrm>
            <a:off x="594361" y="2778245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 err="1">
                <a:solidFill>
                  <a:srgbClr val="99C6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</a:t>
            </a:r>
            <a:endParaRPr sz="1600" dirty="0">
              <a:solidFill>
                <a:srgbClr val="99C6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8">
            <a:extLst>
              <a:ext uri="{FF2B5EF4-FFF2-40B4-BE49-F238E27FC236}">
                <a16:creationId xmlns:a16="http://schemas.microsoft.com/office/drawing/2014/main" id="{495D1ADD-452A-4E92-AF21-2A5D262E082A}"/>
              </a:ext>
            </a:extLst>
          </p:cNvPr>
          <p:cNvSpPr txBox="1"/>
          <p:nvPr/>
        </p:nvSpPr>
        <p:spPr>
          <a:xfrm>
            <a:off x="594361" y="3638287"/>
            <a:ext cx="3611879" cy="56630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600" dirty="0"/>
              <a:t>Tempo de subida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7">
            <a:extLst>
              <a:ext uri="{FF2B5EF4-FFF2-40B4-BE49-F238E27FC236}">
                <a16:creationId xmlns:a16="http://schemas.microsoft.com/office/drawing/2014/main" id="{8CC72888-AA0F-44EE-9DFD-0630BC4D7015}"/>
              </a:ext>
            </a:extLst>
          </p:cNvPr>
          <p:cNvSpPr txBox="1"/>
          <p:nvPr/>
        </p:nvSpPr>
        <p:spPr>
          <a:xfrm>
            <a:off x="594362" y="3103887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0,4199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573DA7AE-0F0A-42BF-AD09-6428070109D8}"/>
              </a:ext>
            </a:extLst>
          </p:cNvPr>
          <p:cNvSpPr txBox="1"/>
          <p:nvPr/>
        </p:nvSpPr>
        <p:spPr>
          <a:xfrm>
            <a:off x="594362" y="3935292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1,15 s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7">
            <a:extLst>
              <a:ext uri="{FF2B5EF4-FFF2-40B4-BE49-F238E27FC236}">
                <a16:creationId xmlns:a16="http://schemas.microsoft.com/office/drawing/2014/main" id="{FA040A83-7F58-4FFE-820D-4F444E2A702C}"/>
              </a:ext>
            </a:extLst>
          </p:cNvPr>
          <p:cNvSpPr txBox="1"/>
          <p:nvPr/>
        </p:nvSpPr>
        <p:spPr>
          <a:xfrm>
            <a:off x="1534160" y="2785990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rgbClr val="99C6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</a:t>
            </a:r>
            <a:endParaRPr sz="1600" dirty="0">
              <a:solidFill>
                <a:srgbClr val="99C6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Box 7">
            <a:extLst>
              <a:ext uri="{FF2B5EF4-FFF2-40B4-BE49-F238E27FC236}">
                <a16:creationId xmlns:a16="http://schemas.microsoft.com/office/drawing/2014/main" id="{1BD64D06-7A2F-4DF8-A829-B318A32C91C7}"/>
              </a:ext>
            </a:extLst>
          </p:cNvPr>
          <p:cNvSpPr txBox="1"/>
          <p:nvPr/>
        </p:nvSpPr>
        <p:spPr>
          <a:xfrm>
            <a:off x="1534161" y="3111632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5,074 s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7">
            <a:extLst>
              <a:ext uri="{FF2B5EF4-FFF2-40B4-BE49-F238E27FC236}">
                <a16:creationId xmlns:a16="http://schemas.microsoft.com/office/drawing/2014/main" id="{AA0F9AC9-4BB2-416B-A5D5-859C9DF81B1B}"/>
              </a:ext>
            </a:extLst>
          </p:cNvPr>
          <p:cNvSpPr txBox="1"/>
          <p:nvPr/>
        </p:nvSpPr>
        <p:spPr>
          <a:xfrm>
            <a:off x="2588846" y="2768511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 err="1">
                <a:solidFill>
                  <a:srgbClr val="99C6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Td</a:t>
            </a:r>
            <a:endParaRPr sz="1600" dirty="0">
              <a:solidFill>
                <a:srgbClr val="99C6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5B55C0A5-7E9A-4915-B65B-B2B6FDAD31EB}"/>
              </a:ext>
            </a:extLst>
          </p:cNvPr>
          <p:cNvSpPr txBox="1"/>
          <p:nvPr/>
        </p:nvSpPr>
        <p:spPr>
          <a:xfrm>
            <a:off x="2588847" y="3094153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1,268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8">
            <a:extLst>
              <a:ext uri="{FF2B5EF4-FFF2-40B4-BE49-F238E27FC236}">
                <a16:creationId xmlns:a16="http://schemas.microsoft.com/office/drawing/2014/main" id="{ED4A252A-1700-4F58-BE4A-5B31C4D7913D}"/>
              </a:ext>
            </a:extLst>
          </p:cNvPr>
          <p:cNvSpPr txBox="1"/>
          <p:nvPr/>
        </p:nvSpPr>
        <p:spPr>
          <a:xfrm>
            <a:off x="569156" y="4426864"/>
            <a:ext cx="3611879" cy="30469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500" dirty="0">
                <a:latin typeface="Arial" panose="020B0604020202020204" pitchFamily="34" charset="0"/>
                <a:cs typeface="Arial" panose="020B0604020202020204" pitchFamily="34" charset="0"/>
              </a:rPr>
              <a:t>Acomodação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CC1ABC62-A90D-4897-A851-BDD6B47EDC11}"/>
              </a:ext>
            </a:extLst>
          </p:cNvPr>
          <p:cNvSpPr txBox="1"/>
          <p:nvPr/>
        </p:nvSpPr>
        <p:spPr>
          <a:xfrm>
            <a:off x="569157" y="4723869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1,15 s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8">
            <a:extLst>
              <a:ext uri="{FF2B5EF4-FFF2-40B4-BE49-F238E27FC236}">
                <a16:creationId xmlns:a16="http://schemas.microsoft.com/office/drawing/2014/main" id="{604FD966-1E70-43C4-8EC6-89C6CA40D271}"/>
              </a:ext>
            </a:extLst>
          </p:cNvPr>
          <p:cNvSpPr txBox="1"/>
          <p:nvPr/>
        </p:nvSpPr>
        <p:spPr>
          <a:xfrm>
            <a:off x="594362" y="5208306"/>
            <a:ext cx="3611879" cy="30469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lang="pt-BR" sz="1500" dirty="0" err="1"/>
              <a:t>Overshoot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Box 7">
            <a:extLst>
              <a:ext uri="{FF2B5EF4-FFF2-40B4-BE49-F238E27FC236}">
                <a16:creationId xmlns:a16="http://schemas.microsoft.com/office/drawing/2014/main" id="{DAAE3B24-3C08-4000-992E-212A3FA590AC}"/>
              </a:ext>
            </a:extLst>
          </p:cNvPr>
          <p:cNvSpPr txBox="1"/>
          <p:nvPr/>
        </p:nvSpPr>
        <p:spPr>
          <a:xfrm>
            <a:off x="594363" y="5505311"/>
            <a:ext cx="3611879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68,8%</a:t>
            </a:r>
            <a:endParaRPr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8">
            <a:extLst>
              <a:ext uri="{FF2B5EF4-FFF2-40B4-BE49-F238E27FC236}">
                <a16:creationId xmlns:a16="http://schemas.microsoft.com/office/drawing/2014/main" id="{96C7F2F5-3BCF-43F6-BFB1-F72D4EB33EDA}"/>
              </a:ext>
            </a:extLst>
          </p:cNvPr>
          <p:cNvSpPr txBox="1"/>
          <p:nvPr/>
        </p:nvSpPr>
        <p:spPr>
          <a:xfrm>
            <a:off x="569157" y="1559766"/>
            <a:ext cx="8689144" cy="81253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r>
              <a:rPr lang="pt-BR" sz="1600" dirty="0"/>
              <a:t>Após identificar o modelo do motor, aplicamos o método de Ziegler–</a:t>
            </a:r>
            <a:r>
              <a:rPr lang="pt-BR" sz="1600" dirty="0" err="1"/>
              <a:t>Nichols</a:t>
            </a:r>
            <a:r>
              <a:rPr lang="pt-BR" sz="1600" dirty="0"/>
              <a:t> para definir os parâmetros do PID. O gráfico mostra como o motor reage ao controle e permite avaliar se a velocidade desejada é atingida e o quanto a resposta oscila durante o ajuste.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0BA1480-68C6-4920-8FD1-4E24B7C5A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753" y="2660470"/>
            <a:ext cx="624840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392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Sintonia</a:t>
            </a:r>
            <a:r>
              <a:rPr dirty="0"/>
              <a:t> Cohen-Coon: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interpretar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66360" cy="17373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81912"/>
            <a:ext cx="4800600" cy="2585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significam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parâmetros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00600" cy="75097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Kp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intensidade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proporcional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escala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tempo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integral;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>
                <a:latin typeface="Arial" panose="020B0604020202020204" pitchFamily="34" charset="0"/>
                <a:cs typeface="Arial" panose="020B0604020202020204" pitchFamily="34" charset="0"/>
              </a:rPr>
              <a:t>Td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escala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tempo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derivativa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57800" cy="17373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545336"/>
            <a:ext cx="489204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B03D3D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Atenção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à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razão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θ/τ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920240"/>
            <a:ext cx="4892040" cy="118186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material do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cita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θ/τ &gt; 0,3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referência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para Cohen-Coon.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No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nosso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razão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é 0,1270,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abaixo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desse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valor.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isso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resultado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deve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ser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interpretado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com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essa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ressalva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16847E"/>
                </a:solidFill>
                <a:latin typeface="Aptos"/>
              </a:defRPr>
            </a:pPr>
            <a:r>
              <a:t>Kp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776472"/>
            <a:ext cx="1993392" cy="397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rPr dirty="0"/>
              <a:t>0,4776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838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2F69A4"/>
                </a:solidFill>
                <a:latin typeface="Aptos"/>
              </a:defRPr>
            </a:pPr>
            <a:r>
              <a:t>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3776472"/>
            <a:ext cx="1993392" cy="397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rPr dirty="0"/>
              <a:t>5,9</a:t>
            </a:r>
            <a:r>
              <a:rPr lang="pt-BR" dirty="0"/>
              <a:t>30 </a:t>
            </a:r>
            <a:r>
              <a:rPr dirty="0"/>
              <a:t>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984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CD7731"/>
                </a:solidFill>
                <a:latin typeface="Aptos"/>
              </a:defRPr>
            </a:pPr>
            <a:r>
              <a:t>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98464" y="3776472"/>
            <a:ext cx="1993392" cy="397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rPr dirty="0"/>
              <a:t>0,902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000" b="1">
                <a:solidFill>
                  <a:srgbClr val="182B45"/>
                </a:solidFill>
                <a:latin typeface="Aptos"/>
              </a:defRPr>
            </a:pPr>
            <a:r>
              <a:rPr dirty="0"/>
              <a:t>θ/τ = 2,5369 ÷ 19,9705 ≈ 0,1270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/>
              <a:t>Ziegler-Nichols teve a resposta mais rápida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8813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100" b="0">
                <a:solidFill>
                  <a:srgbClr val="5D6A78"/>
                </a:solidFill>
                <a:latin typeface="Aptos"/>
              </a:defRPr>
            </a:pPr>
            <a:r>
              <a:rPr dirty="0" err="1"/>
              <a:t>Critério: menor tempo de resposta (acomodação de 2%). Mesmo modelo e SetPoint de 1800 RPM.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155448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35240" y="168249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Cohen-Coon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946776"/>
            <a:ext cx="3611879" cy="73558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Subida: 1,20 s</a:t>
            </a:r>
            <a:br/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Acomodação: 23,24 s</a:t>
            </a:r>
            <a:br/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Overshoot: 84,2%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283464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2962656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Ziegler-Nichols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195829"/>
            <a:ext cx="3611879" cy="72019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Subida: 1,15 s</a:t>
            </a:r>
            <a:br/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Acomodação: 22,74 s</a:t>
            </a:r>
            <a:br/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Overshoot: 68,8%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4160520"/>
            <a:ext cx="3977639" cy="205740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58100" y="415137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635238" y="4446037"/>
            <a:ext cx="3611879" cy="179741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solidFill>
                  <a:srgbClr val="2B34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ZN acomodou antes (22,74 s contra 23,24 s) e com menos overshoot (69% contra 84%).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solidFill>
                  <a:srgbClr val="2B34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 θ/τ = 0,127, fora da faixa do Cohen-Coon (θ/τ &gt; 0,3), ele dá Kp 14% maior e Td 29% menor: oscila mais e demora mais a acomodar.</a:t>
            </a:r>
          </a:p>
        </p:txBody>
      </p:sp>
      <p:pic>
        <p:nvPicPr>
          <p:cNvPr id="16" name="Picture 15" descr="comparacao_p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83705"/>
            <a:ext cx="6629400" cy="41433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/>
              <a:t>Extra: o PID rejeita um degrau de carga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8813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100" b="0">
                <a:solidFill>
                  <a:srgbClr val="5D6A78"/>
                </a:solidFill>
                <a:latin typeface="Aptos"/>
              </a:defRPr>
            </a:pPr>
            <a:r>
              <a:rPr dirty="0" err="1"/>
              <a:t>Carga de 15% do acionamento aplicada em t = 100 s, com o motor em 1800 RPM (modelo do ajuste fino).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155448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35240" y="168249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Ziegler-Nichols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946776"/>
            <a:ext cx="3611879" cy="73558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Queda máxima: 42 RPM</a:t>
            </a:r>
            <a:br>
              <a:rPr dirty="0"/>
            </a:b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Volta à faixa de 2%: 6,81 s</a:t>
            </a:r>
            <a:br>
              <a:rPr dirty="0"/>
            </a:b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Erro final: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283464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2962656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Cohen-Coon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195829"/>
            <a:ext cx="3611879" cy="72019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Queda máxima: 43 RPM</a:t>
            </a:r>
            <a:br/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Volta à faixa de 2%: 6,94 s</a:t>
            </a:r>
            <a:br/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Erro final: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4160520"/>
            <a:ext cx="3977639" cy="19659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58100" y="415137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635238" y="4446037"/>
            <a:ext cx="3611879" cy="179741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solidFill>
                  <a:srgbClr val="2B34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 controle, a carga derruba a velocidade em 337,5 RPM, de forma permanente.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solidFill>
                  <a:srgbClr val="2B34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 PID, a queda é 8 vezes menor e a ação integral traz o motor de volta ao SetPoint.</a:t>
            </a:r>
          </a:p>
        </p:txBody>
      </p:sp>
      <p:pic>
        <p:nvPicPr>
          <p:cNvPr id="16" name="Picture 15" descr="degrau_car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76500"/>
            <a:ext cx="6766560" cy="2819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C833DE-C371-491A-9E47-099018BBF2C2}"/>
              </a:ext>
            </a:extLst>
          </p:cNvPr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sz="2700" b="1" dirty="0"/>
              <a:t>Interface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34A697-2627-4953-9837-7EA4942AAAAF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508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9A7AAA4C-6DCC-4376-BEB6-A622112BD5B9}"/>
              </a:ext>
            </a:extLst>
          </p:cNvPr>
          <p:cNvSpPr txBox="1"/>
          <p:nvPr/>
        </p:nvSpPr>
        <p:spPr>
          <a:xfrm>
            <a:off x="594360" y="1033111"/>
            <a:ext cx="11318240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b="1" dirty="0">
                <a:solidFill>
                  <a:srgbClr val="508927"/>
                </a:solidFill>
                <a:latin typeface="+mj-lt"/>
                <a:cs typeface="Arial" panose="020B0604020202020204" pitchFamily="34" charset="0"/>
              </a:rPr>
              <a:t>Login e exportação</a:t>
            </a:r>
            <a:endParaRPr sz="1600" dirty="0">
              <a:solidFill>
                <a:srgbClr val="508927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940EB31-55CB-46BF-9568-D896ADC6F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76905"/>
            <a:ext cx="3371850" cy="2695575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6C80F9BC-E399-4853-AC13-633522F54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529" y="4818969"/>
            <a:ext cx="2238375" cy="1400175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FC2FDBB-AA2D-4388-B9DB-298FDEFD2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0815" y="1576905"/>
            <a:ext cx="7429954" cy="5105419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05871600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do">
  <a:themeElements>
    <a:clrScheme name="Facetado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0913E91E3223419314E4EEAF55D6B7" ma:contentTypeVersion="14" ma:contentTypeDescription="Create a new document." ma:contentTypeScope="" ma:versionID="f5daf4d97800b124ae3bcd4663ff1978">
  <xsd:schema xmlns:xsd="http://www.w3.org/2001/XMLSchema" xmlns:xs="http://www.w3.org/2001/XMLSchema" xmlns:p="http://schemas.microsoft.com/office/2006/metadata/properties" xmlns:ns3="39687eec-9f0c-43bc-aa81-f41a7d22872d" xmlns:ns4="e9ac9483-9538-4d01-9b68-bc5731453717" targetNamespace="http://schemas.microsoft.com/office/2006/metadata/properties" ma:root="true" ma:fieldsID="24b8c66475976e2de1d2b339beb70633" ns3:_="" ns4:_="">
    <xsd:import namespace="39687eec-9f0c-43bc-aa81-f41a7d22872d"/>
    <xsd:import namespace="e9ac9483-9538-4d01-9b68-bc573145371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687eec-9f0c-43bc-aa81-f41a7d2287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ac9483-9538-4d01-9b68-bc573145371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9687eec-9f0c-43bc-aa81-f41a7d22872d" xsi:nil="true"/>
  </documentManagement>
</p:properties>
</file>

<file path=customXml/itemProps1.xml><?xml version="1.0" encoding="utf-8"?>
<ds:datastoreItem xmlns:ds="http://schemas.openxmlformats.org/officeDocument/2006/customXml" ds:itemID="{CE494FB8-869E-4F89-88F3-DD5022C12A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9687eec-9f0c-43bc-aa81-f41a7d22872d"/>
    <ds:schemaRef ds:uri="e9ac9483-9538-4d01-9b68-bc573145371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D6D3B7-172E-44AC-BFAA-DB50306F7DC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4D1B855-CBE0-4C6D-AAED-AB0DD0DFD68F}">
  <ds:schemaRefs>
    <ds:schemaRef ds:uri="http://schemas.microsoft.com/office/2006/metadata/properties"/>
    <ds:schemaRef ds:uri="http://schemas.microsoft.com/office/2006/documentManagement/types"/>
    <ds:schemaRef ds:uri="http://www.w3.org/XML/1998/namespace"/>
    <ds:schemaRef ds:uri="39687eec-9f0c-43bc-aa81-f41a7d22872d"/>
    <ds:schemaRef ds:uri="http://schemas.openxmlformats.org/package/2006/metadata/core-properties"/>
    <ds:schemaRef ds:uri="e9ac9483-9538-4d01-9b68-bc5731453717"/>
    <ds:schemaRef ds:uri="http://purl.org/dc/terms/"/>
    <ds:schemaRef ds:uri="http://schemas.microsoft.com/office/infopath/2007/PartnerControls"/>
    <ds:schemaRef ds:uri="http://purl.org/dc/dcmitype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320</TotalTime>
  <Words>1361</Words>
  <Application>Microsoft Office PowerPoint</Application>
  <PresentationFormat>Widescreen</PresentationFormat>
  <Paragraphs>171</Paragraphs>
  <Slides>16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Cambria</vt:lpstr>
      <vt:lpstr>Trebuchet MS</vt:lpstr>
      <vt:lpstr>Wingdings 3</vt:lpstr>
      <vt:lpstr>Facetado</vt:lpstr>
      <vt:lpstr>Identificação de Processos e Sintonia de Controladores PID Grupo 2 · C13 – Sistemas Embarcados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Identificação de Processos e Sintonia de Controladores PID  Grupo 2 — C13 Sistemas Embarcados</dc:title>
  <dc:subject/>
  <dc:creator>Maria Rita</dc:creator>
  <cp:keywords/>
  <dc:description>generated using python-pptx</dc:description>
  <cp:lastModifiedBy>Julia Alves</cp:lastModifiedBy>
  <cp:revision>23</cp:revision>
  <dcterms:created xsi:type="dcterms:W3CDTF">2013-01-27T09:14:16Z</dcterms:created>
  <dcterms:modified xsi:type="dcterms:W3CDTF">2026-10-14T02:03:34Z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0x010100410913E91E3223419314E4EEAF55D6B7</vt:lpwstr>
  </property>
</Properties>
</file>