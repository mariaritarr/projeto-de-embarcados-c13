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63" r:id="rId5"/>
    <p:sldId id="261" r:id="rId6"/>
    <p:sldId id="260" r:id="rId7"/>
    <p:sldId id="265" r:id="rId8"/>
    <p:sldId id="256" r:id="rId9"/>
    <p:sldId id="266" r:id="rId10"/>
    <p:sldId id="258" r:id="rId11"/>
    <p:sldId id="267" r:id="rId12"/>
    <p:sldId id="264" r:id="rId13"/>
    <p:sldId id="257" r:id="rId14"/>
    <p:sldId id="25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3786F9E-9D52-43D4-8441-F885A8DF3474}" v="4" dt="2026-10-13T01:33:37.4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954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a Rita" userId="6072d1a607af3438" providerId="LiveId" clId="{E2C0015B-DB19-4E69-98EF-8810F8F8B916}"/>
    <pc:docChg chg="undo custSel modSld">
      <pc:chgData name="Maria Rita" userId="6072d1a607af3438" providerId="LiveId" clId="{E2C0015B-DB19-4E69-98EF-8810F8F8B916}" dt="2026-10-13T01:35:58.595" v="41" actId="1076"/>
      <pc:docMkLst>
        <pc:docMk/>
      </pc:docMkLst>
      <pc:sldChg chg="addSp delSp modSp mod">
        <pc:chgData name="Maria Rita" userId="6072d1a607af3438" providerId="LiveId" clId="{E2C0015B-DB19-4E69-98EF-8810F8F8B916}" dt="2026-10-13T01:35:58.595" v="41" actId="1076"/>
        <pc:sldMkLst>
          <pc:docMk/>
          <pc:sldMk cId="0" sldId="257"/>
        </pc:sldMkLst>
        <pc:picChg chg="add mod">
          <ac:chgData name="Maria Rita" userId="6072d1a607af3438" providerId="LiveId" clId="{E2C0015B-DB19-4E69-98EF-8810F8F8B916}" dt="2026-10-13T01:35:58.595" v="41" actId="1076"/>
          <ac:picMkLst>
            <pc:docMk/>
            <pc:sldMk cId="0" sldId="257"/>
            <ac:picMk id="18" creationId="{BC016C3C-5768-3348-99B1-97BCA122B34F}"/>
          </ac:picMkLst>
        </pc:picChg>
        <pc:picChg chg="del">
          <ac:chgData name="Maria Rita" userId="6072d1a607af3438" providerId="LiveId" clId="{E2C0015B-DB19-4E69-98EF-8810F8F8B916}" dt="2026-10-13T01:34:21.062" v="34" actId="478"/>
          <ac:picMkLst>
            <pc:docMk/>
            <pc:sldMk cId="0" sldId="257"/>
            <ac:picMk id="25" creationId="{8A86A204-936B-4CEA-B2D3-D6EFCE09E405}"/>
          </ac:picMkLst>
        </pc:picChg>
      </pc:sldChg>
      <pc:sldChg chg="addSp modSp mod">
        <pc:chgData name="Maria Rita" userId="6072d1a607af3438" providerId="LiveId" clId="{E2C0015B-DB19-4E69-98EF-8810F8F8B916}" dt="2026-10-13T01:33:59.826" v="33" actId="2711"/>
        <pc:sldMkLst>
          <pc:docMk/>
          <pc:sldMk cId="0" sldId="259"/>
        </pc:sldMkLst>
        <pc:spChg chg="mod">
          <ac:chgData name="Maria Rita" userId="6072d1a607af3438" providerId="LiveId" clId="{E2C0015B-DB19-4E69-98EF-8810F8F8B916}" dt="2026-10-13T01:32:04.679" v="9" actId="113"/>
          <ac:spMkLst>
            <pc:docMk/>
            <pc:sldMk cId="0" sldId="259"/>
            <ac:spMk id="9" creationId="{00000000-0000-0000-0000-000000000000}"/>
          </ac:spMkLst>
        </pc:spChg>
        <pc:spChg chg="mod">
          <ac:chgData name="Maria Rita" userId="6072d1a607af3438" providerId="LiveId" clId="{E2C0015B-DB19-4E69-98EF-8810F8F8B916}" dt="2026-10-13T01:32:12.612" v="19" actId="20577"/>
          <ac:spMkLst>
            <pc:docMk/>
            <pc:sldMk cId="0" sldId="259"/>
            <ac:spMk id="12" creationId="{00000000-0000-0000-0000-000000000000}"/>
          </ac:spMkLst>
        </pc:spChg>
        <pc:spChg chg="mod">
          <ac:chgData name="Maria Rita" userId="6072d1a607af3438" providerId="LiveId" clId="{E2C0015B-DB19-4E69-98EF-8810F8F8B916}" dt="2026-10-13T01:33:59.826" v="33" actId="2711"/>
          <ac:spMkLst>
            <pc:docMk/>
            <pc:sldMk cId="0" sldId="259"/>
            <ac:spMk id="15" creationId="{00000000-0000-0000-0000-000000000000}"/>
          </ac:spMkLst>
        </pc:spChg>
        <pc:graphicFrameChg chg="add mod">
          <ac:chgData name="Maria Rita" userId="6072d1a607af3438" providerId="LiveId" clId="{E2C0015B-DB19-4E69-98EF-8810F8F8B916}" dt="2026-10-13T01:31:50.599" v="3"/>
          <ac:graphicFrameMkLst>
            <pc:docMk/>
            <pc:sldMk cId="0" sldId="259"/>
            <ac:graphicFrameMk id="5" creationId="{3147F48C-EF1D-8D0E-E811-9394F0AA358E}"/>
          </ac:graphicFrameMkLst>
        </pc:graphicFrameChg>
        <pc:picChg chg="mod">
          <ac:chgData name="Maria Rita" userId="6072d1a607af3438" providerId="LiveId" clId="{E2C0015B-DB19-4E69-98EF-8810F8F8B916}" dt="2026-10-13T01:30:17.850" v="1" actId="1076"/>
          <ac:picMkLst>
            <pc:docMk/>
            <pc:sldMk cId="0" sldId="259"/>
            <ac:picMk id="16" creationId="{00000000-0000-0000-0000-00000000000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252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801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3907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61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204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5422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833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009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09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487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49096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180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426313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4609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8262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02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827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0C7D40-D0B2-440E-B43C-8427721AC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1559" y="218741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pt-BR" dirty="0"/>
              <a:t>Identificação de Processos e Sintonia de Controladores PID</a:t>
            </a:r>
            <a:br>
              <a:rPr lang="pt-BR" dirty="0"/>
            </a:br>
            <a:br>
              <a:rPr lang="pt-BR" dirty="0"/>
            </a:br>
            <a:r>
              <a:rPr lang="pt-BR" sz="2200" dirty="0"/>
              <a:t>Grupo 2 — C13 Sistemas Embarcados</a:t>
            </a:r>
            <a:br>
              <a:rPr lang="pt-BR" dirty="0"/>
            </a:br>
            <a:r>
              <a:rPr lang="pt-BR" dirty="0"/>
              <a:t>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7E2BF2F-1C7C-4FBA-B0D7-09116F05F4D3}"/>
              </a:ext>
            </a:extLst>
          </p:cNvPr>
          <p:cNvSpPr txBox="1"/>
          <p:nvPr/>
        </p:nvSpPr>
        <p:spPr>
          <a:xfrm flipH="1">
            <a:off x="596225" y="5840963"/>
            <a:ext cx="3117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Equipe: Maria – Julia - Raissa</a:t>
            </a:r>
          </a:p>
        </p:txBody>
      </p:sp>
    </p:spTree>
    <p:extLst>
      <p:ext uri="{BB962C8B-B14F-4D97-AF65-F5344CB8AC3E}">
        <p14:creationId xmlns:p14="http://schemas.microsoft.com/office/powerpoint/2010/main" val="4174050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70400D51-F05B-85CB-3685-78A1AF503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50320"/>
            <a:ext cx="8139562" cy="3216326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lang="pt-BR" dirty="0"/>
              <a:t>Como funciona o motor CC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4BCFBF66-A8E1-A508-75BF-D6504E95DE62}"/>
              </a:ext>
            </a:extLst>
          </p:cNvPr>
          <p:cNvGrpSpPr/>
          <p:nvPr/>
        </p:nvGrpSpPr>
        <p:grpSpPr>
          <a:xfrm>
            <a:off x="725714" y="4541490"/>
            <a:ext cx="4686300" cy="2132380"/>
            <a:chOff x="781812" y="1265685"/>
            <a:chExt cx="5257800" cy="2132380"/>
          </a:xfrm>
        </p:grpSpPr>
        <p:sp>
          <p:nvSpPr>
            <p:cNvPr id="6" name="Rounded Rectangle 5"/>
            <p:cNvSpPr/>
            <p:nvPr/>
          </p:nvSpPr>
          <p:spPr>
            <a:xfrm>
              <a:off x="781812" y="1265685"/>
              <a:ext cx="5257800" cy="2132380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/>
                <p:cNvSpPr txBox="1"/>
                <p:nvPr/>
              </p:nvSpPr>
              <p:spPr>
                <a:xfrm>
                  <a:off x="987552" y="1501840"/>
                  <a:ext cx="4846320" cy="1660070"/>
                </a:xfrm>
                <a:prstGeom prst="rect">
                  <a:avLst/>
                </a:prstGeom>
                <a:noFill/>
              </p:spPr>
              <p:txBody>
                <a:bodyPr wrap="square" lIns="45720" tIns="36576" rIns="45720" bIns="36576" anchor="t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  <a:defRPr sz="1700" b="0">
                      <a:solidFill>
                        <a:srgbClr val="2B343E"/>
                      </a:solidFill>
                      <a:latin typeface="Aptos"/>
                    </a:defRPr>
                  </a:pPr>
                  <a:r>
                    <a:rPr lang="pt-BR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O estator gera o campo, armadura gira:</a:t>
                  </a:r>
                </a:p>
                <a:p>
                  <a:pPr>
                    <a:defRPr sz="1700" b="0">
                      <a:solidFill>
                        <a:srgbClr val="2B343E"/>
                      </a:solidFill>
                      <a:latin typeface="Aptos"/>
                    </a:defRPr>
                  </a:pPr>
                  <a14:m>
                    <m:oMathPara xmlns:m="http://schemas.openxmlformats.org/officeDocument/2006/math"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𝑇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𝑡</m:t>
                            </m:r>
                          </m:sub>
                        </m:sSub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pt-BR" sz="14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:pPr>
                    <a:defRPr sz="1700" b="0">
                      <a:solidFill>
                        <a:srgbClr val="2B343E"/>
                      </a:solidFill>
                      <a:latin typeface="Aptos"/>
                    </a:defRPr>
                  </a:pPr>
                  <a14:m>
                    <m:oMathPara xmlns:m="http://schemas.openxmlformats.org/officeDocument/2006/math"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𝐸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</m:oMath>
                    </m:oMathPara>
                  </a14:m>
                  <a:endParaRPr lang="pt-BR" sz="14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:pPr>
                    <a:defRPr sz="1700" b="0">
                      <a:solidFill>
                        <a:srgbClr val="2B343E"/>
                      </a:solidFill>
                      <a:latin typeface="Aptos"/>
                    </a:defRPr>
                  </a:pPr>
                  <a:endParaRPr lang="pt-BR" sz="14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  <a:defRPr sz="1700" b="0">
                      <a:solidFill>
                        <a:srgbClr val="2B343E"/>
                      </a:solidFill>
                      <a:latin typeface="Aptos"/>
                    </a:defRPr>
                  </a:pPr>
                  <a:r>
                    <a:rPr lang="pt-BR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A força contraeletromotriz é o que estabiliza a velocidade, sendo assim, quanto mais rápido, menor a corrente e o torque.</a:t>
                  </a:r>
                </a:p>
              </p:txBody>
            </p:sp>
          </mc:Choice>
          <mc:Fallback xmlns="">
            <p:sp>
              <p:nvSpPr>
                <p:cNvPr id="8" name="TextBox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552" y="1501840"/>
                  <a:ext cx="4846320" cy="1660070"/>
                </a:xfrm>
                <a:prstGeom prst="rect">
                  <a:avLst/>
                </a:prstGeom>
                <a:blipFill>
                  <a:blip r:embed="rId3"/>
                  <a:stretch>
                    <a:fillRect l="-1269" t="-1471" b="-367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16D006-CB03-BBC4-1EE9-BF025AEC7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094305-8C85-A818-FDAE-DCBB6710C90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lang="pt-BR" dirty="0"/>
              <a:t>Do motor ao modelo FOPDT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387E07-9AD7-8505-90A7-D57F551469F3}"/>
              </a:ext>
            </a:extLst>
          </p:cNvPr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ABF5922E-D1AF-1DC1-AD25-44351B930879}"/>
              </a:ext>
            </a:extLst>
          </p:cNvPr>
          <p:cNvGrpSpPr/>
          <p:nvPr/>
        </p:nvGrpSpPr>
        <p:grpSpPr>
          <a:xfrm>
            <a:off x="621793" y="1480479"/>
            <a:ext cx="4545294" cy="1719609"/>
            <a:chOff x="731520" y="1426297"/>
            <a:chExt cx="5257800" cy="1797100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E85EB215-936F-DC1C-FD87-2D90116A9623}"/>
                </a:ext>
              </a:extLst>
            </p:cNvPr>
            <p:cNvSpPr/>
            <p:nvPr/>
          </p:nvSpPr>
          <p:spPr>
            <a:xfrm>
              <a:off x="731520" y="1426297"/>
              <a:ext cx="5257800" cy="1797100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494D955-79B7-5615-A3A5-D4585D3809E1}"/>
                </a:ext>
              </a:extLst>
            </p:cNvPr>
            <p:cNvSpPr txBox="1"/>
            <p:nvPr/>
          </p:nvSpPr>
          <p:spPr>
            <a:xfrm>
              <a:off x="937260" y="1781861"/>
              <a:ext cx="4846320" cy="772924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 marL="285750" indent="-285750" algn="l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400" dirty="0">
                  <a:latin typeface="Arial" panose="020B0604020202020204" pitchFamily="34" charset="0"/>
                  <a:cs typeface="Arial" panose="020B0604020202020204" pitchFamily="34" charset="0"/>
                </a:rPr>
                <a:t>O modelo físico é de segunda ordem, mas o polo elétrico é muito mais rápido que o mecânico, então sobra um modelo de primeira ordem.</a:t>
              </a:r>
            </a:p>
            <a:p>
              <a:pPr>
                <a:defRPr sz="1700" b="0">
                  <a:solidFill>
                    <a:srgbClr val="2B343E"/>
                  </a:solidFill>
                  <a:latin typeface="Aptos"/>
                </a:defRPr>
              </a:pPr>
              <a:endParaRPr lang="pt-BR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FBAC371E-EC1A-46F8-5A20-BE8529371712}"/>
              </a:ext>
            </a:extLst>
          </p:cNvPr>
          <p:cNvGrpSpPr/>
          <p:nvPr/>
        </p:nvGrpSpPr>
        <p:grpSpPr>
          <a:xfrm>
            <a:off x="5547137" y="3926585"/>
            <a:ext cx="4004492" cy="1934330"/>
            <a:chOff x="6126479" y="1280160"/>
            <a:chExt cx="5248469" cy="214884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C4357678-8523-53F2-615B-CC28AC90D6EA}"/>
                </a:ext>
              </a:extLst>
            </p:cNvPr>
            <p:cNvSpPr/>
            <p:nvPr/>
          </p:nvSpPr>
          <p:spPr>
            <a:xfrm>
              <a:off x="6126479" y="1280160"/>
              <a:ext cx="5248469" cy="2148840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37F416-09A8-258F-15CC-AE1577693AAB}"/>
                </a:ext>
              </a:extLst>
            </p:cNvPr>
            <p:cNvSpPr txBox="1"/>
            <p:nvPr/>
          </p:nvSpPr>
          <p:spPr>
            <a:xfrm>
              <a:off x="6355080" y="1965960"/>
              <a:ext cx="4846320" cy="812530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700" dirty="0">
                  <a:solidFill>
                    <a:srgbClr val="2B343E"/>
                  </a:solidFill>
                  <a:latin typeface="Aptos"/>
                </a:rPr>
                <a:t>τ ≈ 20 s indica um motor acionando uma carga com bastante inércia.</a:t>
              </a:r>
            </a:p>
            <a:p>
              <a:pPr marL="285750" indent="-285750" algn="l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endParaRPr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" name="Agrupar 4">
            <a:extLst>
              <a:ext uri="{FF2B5EF4-FFF2-40B4-BE49-F238E27FC236}">
                <a16:creationId xmlns:a16="http://schemas.microsoft.com/office/drawing/2014/main" id="{B41AB6EF-BC51-152C-A5B2-2505DC6CAA11}"/>
              </a:ext>
            </a:extLst>
          </p:cNvPr>
          <p:cNvGrpSpPr/>
          <p:nvPr/>
        </p:nvGrpSpPr>
        <p:grpSpPr>
          <a:xfrm>
            <a:off x="5547137" y="1484782"/>
            <a:ext cx="4004492" cy="2151047"/>
            <a:chOff x="731520" y="3790868"/>
            <a:chExt cx="5148070" cy="2151047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EBD569C-2811-DABA-E662-7366F6547F02}"/>
                </a:ext>
              </a:extLst>
            </p:cNvPr>
            <p:cNvSpPr/>
            <p:nvPr/>
          </p:nvSpPr>
          <p:spPr>
            <a:xfrm>
              <a:off x="731520" y="3790868"/>
              <a:ext cx="5148070" cy="2151047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Tempo de amostragem.</a:t>
              </a:r>
            </a:p>
            <a:p>
              <a:endPara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Filtragem da medição.</a:t>
              </a:r>
            </a:p>
            <a:p>
              <a:endPara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Atrito estático.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95411BB-51E0-4998-1D76-1F2B06CF3F66}"/>
                </a:ext>
              </a:extLst>
            </p:cNvPr>
            <p:cNvSpPr txBox="1"/>
            <p:nvPr/>
          </p:nvSpPr>
          <p:spPr>
            <a:xfrm>
              <a:off x="1033270" y="3887861"/>
              <a:ext cx="4846320" cy="304699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>
                <a:defRPr sz="1500" b="1">
                  <a:solidFill>
                    <a:srgbClr val="CD7731"/>
                  </a:solidFill>
                  <a:latin typeface="Aptos"/>
                </a:defRPr>
              </a:pPr>
              <a:r>
                <a:rPr lang="pt-BR" sz="1500" dirty="0">
                  <a:solidFill>
                    <a:srgbClr val="CD7731"/>
                  </a:solidFill>
                  <a:latin typeface="Aptos"/>
                </a:rPr>
                <a:t>De onde vem θ num motor</a:t>
              </a:r>
              <a:endParaRPr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07E2DCD2-5192-4AC9-A712-B63E31C08D6A}"/>
              </a:ext>
            </a:extLst>
          </p:cNvPr>
          <p:cNvGrpSpPr/>
          <p:nvPr/>
        </p:nvGrpSpPr>
        <p:grpSpPr>
          <a:xfrm>
            <a:off x="621793" y="3657913"/>
            <a:ext cx="3872078" cy="1856608"/>
            <a:chOff x="6830035" y="1396285"/>
            <a:chExt cx="4004492" cy="1934330"/>
          </a:xfrm>
        </p:grpSpPr>
        <p:grpSp>
          <p:nvGrpSpPr>
            <p:cNvPr id="21" name="Agrupar 20">
              <a:extLst>
                <a:ext uri="{FF2B5EF4-FFF2-40B4-BE49-F238E27FC236}">
                  <a16:creationId xmlns:a16="http://schemas.microsoft.com/office/drawing/2014/main" id="{C0E987F9-3645-A9F8-2970-CCA7125226C3}"/>
                </a:ext>
              </a:extLst>
            </p:cNvPr>
            <p:cNvGrpSpPr/>
            <p:nvPr/>
          </p:nvGrpSpPr>
          <p:grpSpPr>
            <a:xfrm>
              <a:off x="6830035" y="1396285"/>
              <a:ext cx="4004492" cy="1934330"/>
              <a:chOff x="6126479" y="1280160"/>
              <a:chExt cx="5248469" cy="2148840"/>
            </a:xfrm>
          </p:grpSpPr>
          <p:sp>
            <p:nvSpPr>
              <p:cNvPr id="22" name="Rounded Rectangle 8">
                <a:extLst>
                  <a:ext uri="{FF2B5EF4-FFF2-40B4-BE49-F238E27FC236}">
                    <a16:creationId xmlns:a16="http://schemas.microsoft.com/office/drawing/2014/main" id="{1E937703-FA27-B113-C8B5-57A0888F8FA1}"/>
                  </a:ext>
                </a:extLst>
              </p:cNvPr>
              <p:cNvSpPr/>
              <p:nvPr/>
            </p:nvSpPr>
            <p:spPr>
              <a:xfrm>
                <a:off x="6126479" y="1280160"/>
                <a:ext cx="5248469" cy="2148840"/>
              </a:xfrm>
              <a:prstGeom prst="roundRect">
                <a:avLst/>
              </a:prstGeom>
              <a:solidFill>
                <a:srgbClr val="F0F5F8"/>
              </a:solidFill>
              <a:ln>
                <a:solidFill>
                  <a:srgbClr val="DCE5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sp>
            <p:nvSpPr>
              <p:cNvPr id="23" name="TextBox 10">
                <a:extLst>
                  <a:ext uri="{FF2B5EF4-FFF2-40B4-BE49-F238E27FC236}">
                    <a16:creationId xmlns:a16="http://schemas.microsoft.com/office/drawing/2014/main" id="{CE73B1F5-A6E9-29AE-AED1-B906A2DB7E26}"/>
                  </a:ext>
                </a:extLst>
              </p:cNvPr>
              <p:cNvSpPr txBox="1"/>
              <p:nvPr/>
            </p:nvSpPr>
            <p:spPr>
              <a:xfrm>
                <a:off x="6355080" y="1965961"/>
                <a:ext cx="4846320" cy="321393"/>
              </a:xfrm>
              <a:prstGeom prst="rect">
                <a:avLst/>
              </a:prstGeom>
              <a:noFill/>
            </p:spPr>
            <p:txBody>
              <a:bodyPr wrap="square" lIns="45720" tIns="36576" rIns="45720" bIns="36576" anchor="t">
                <a:spAutoFit/>
              </a:bodyPr>
              <a:lstStyle/>
              <a:p>
                <a:pPr marL="285750" indent="-285750" algn="l">
                  <a:buFont typeface="Arial" panose="020B0604020202020204" pitchFamily="34" charset="0"/>
                  <a:buChar char="•"/>
                  <a:defRPr sz="1700" b="0">
                    <a:solidFill>
                      <a:srgbClr val="2B343E"/>
                    </a:solidFill>
                    <a:latin typeface="Aptos"/>
                  </a:defRPr>
                </a:pPr>
                <a:endParaRPr sz="1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pic>
          <p:nvPicPr>
            <p:cNvPr id="26" name="Imagem 25">
              <a:extLst>
                <a:ext uri="{FF2B5EF4-FFF2-40B4-BE49-F238E27FC236}">
                  <a16:creationId xmlns:a16="http://schemas.microsoft.com/office/drawing/2014/main" id="{C5CA39D5-5415-BD86-98C1-B5D2D5C47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7118970" y="1778032"/>
              <a:ext cx="3426622" cy="1122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60060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lang="pt-BR" dirty="0" err="1"/>
              <a:t>Dataset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ED4E764B-E095-69E8-0D5A-507CD0553EBB}"/>
              </a:ext>
            </a:extLst>
          </p:cNvPr>
          <p:cNvGrpSpPr/>
          <p:nvPr/>
        </p:nvGrpSpPr>
        <p:grpSpPr>
          <a:xfrm>
            <a:off x="6891049" y="1694760"/>
            <a:ext cx="3148099" cy="2820366"/>
            <a:chOff x="621792" y="1653628"/>
            <a:chExt cx="4636008" cy="3383280"/>
          </a:xfrm>
        </p:grpSpPr>
        <p:sp>
          <p:nvSpPr>
            <p:cNvPr id="6" name="Rounded Rectangle 5"/>
            <p:cNvSpPr/>
            <p:nvPr/>
          </p:nvSpPr>
          <p:spPr>
            <a:xfrm>
              <a:off x="621792" y="1653628"/>
              <a:ext cx="4526280" cy="3383280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41833" y="1763356"/>
              <a:ext cx="4206239" cy="379566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 algn="l">
                <a:defRPr sz="1500" b="1">
                  <a:solidFill>
                    <a:srgbClr val="16847E"/>
                  </a:solidFill>
                  <a:latin typeface="Aptos"/>
                </a:defRPr>
              </a:pPr>
              <a:r>
                <a:rPr lang="pt-BR" sz="1600" dirty="0">
                  <a:latin typeface="Arial" panose="020B0604020202020204" pitchFamily="34" charset="0"/>
                  <a:cs typeface="Arial" panose="020B0604020202020204" pitchFamily="34" charset="0"/>
                </a:rPr>
                <a:t>Motor_G2.mat</a:t>
              </a:r>
              <a:endParaRPr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220556"/>
              <a:ext cx="4434840" cy="1955581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 marL="285750" indent="-285750" algn="l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1501 amostras, de 0 a 150 s</a:t>
              </a:r>
            </a:p>
            <a:p>
              <a:pPr algn="l">
                <a:defRPr sz="1700" b="0">
                  <a:solidFill>
                    <a:srgbClr val="2B343E"/>
                  </a:solidFill>
                  <a:latin typeface="Aptos"/>
                </a:defRPr>
              </a:pPr>
              <a:endParaRPr lang="pt-BR" sz="1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 algn="l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Uma amostra a cada 0,1 s</a:t>
              </a:r>
            </a:p>
            <a:p>
              <a:pPr algn="l">
                <a:defRPr sz="1700" b="0">
                  <a:solidFill>
                    <a:srgbClr val="2B343E"/>
                  </a:solidFill>
                  <a:latin typeface="Aptos"/>
                </a:defRPr>
              </a:pPr>
              <a:endParaRPr lang="pt-BR" sz="1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 algn="l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Degrau de 0 a 80% em t = 10 s</a:t>
              </a:r>
            </a:p>
            <a:p>
              <a:pPr algn="l">
                <a:defRPr sz="1700" b="0">
                  <a:solidFill>
                    <a:srgbClr val="2B343E"/>
                  </a:solidFill>
                  <a:latin typeface="Aptos"/>
                </a:defRPr>
              </a:pPr>
              <a:endParaRPr lang="pt-BR" sz="1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Saída de ≈ 0 a 1797 RPM</a:t>
              </a:r>
            </a:p>
            <a:p>
              <a:pPr lvl="1"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200" b="1" dirty="0">
                  <a:solidFill>
                    <a:srgbClr val="2B343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	</a:t>
              </a:r>
              <a:r>
                <a:rPr lang="pt-BR" sz="1200" b="1" dirty="0" err="1">
                  <a:solidFill>
                    <a:srgbClr val="2B343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Δy</a:t>
              </a:r>
              <a:r>
                <a:rPr lang="pt-BR" sz="1200" b="1" dirty="0">
                  <a:solidFill>
                    <a:srgbClr val="2B343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≈ 1798 RPM </a:t>
              </a:r>
            </a:p>
            <a:p>
              <a:pPr marL="742950" lvl="1" indent="-285750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endParaRPr lang="pt-BR" sz="1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 algn="l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Ruído de medição de ≈ 10 RPM</a:t>
              </a:r>
            </a:p>
          </p:txBody>
        </p:sp>
      </p:grpSp>
      <p:pic>
        <p:nvPicPr>
          <p:cNvPr id="5" name="Imagem 4">
            <a:extLst>
              <a:ext uri="{FF2B5EF4-FFF2-40B4-BE49-F238E27FC236}">
                <a16:creationId xmlns:a16="http://schemas.microsoft.com/office/drawing/2014/main" id="{952443D1-4CE6-42B1-F3FF-BFA2A9A94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05" y="1114613"/>
            <a:ext cx="6369059" cy="3980661"/>
          </a:xfrm>
          <a:prstGeom prst="rect">
            <a:avLst/>
          </a:prstGeom>
        </p:spPr>
      </p:pic>
      <p:sp>
        <p:nvSpPr>
          <p:cNvPr id="14" name="TextBox 17">
            <a:extLst>
              <a:ext uri="{FF2B5EF4-FFF2-40B4-BE49-F238E27FC236}">
                <a16:creationId xmlns:a16="http://schemas.microsoft.com/office/drawing/2014/main" id="{DBE1854F-0A3B-EEAB-173F-A48B80902037}"/>
              </a:ext>
            </a:extLst>
          </p:cNvPr>
          <p:cNvSpPr txBox="1"/>
          <p:nvPr/>
        </p:nvSpPr>
        <p:spPr>
          <a:xfrm>
            <a:off x="822960" y="6312408"/>
            <a:ext cx="10515600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600" b="1">
                <a:solidFill>
                  <a:srgbClr val="182B45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Ganho estático: k = </a:t>
            </a:r>
            <a:r>
              <a:rPr lang="pt-BR" sz="1600" dirty="0" err="1">
                <a:solidFill>
                  <a:srgbClr val="182B45"/>
                </a:solidFill>
                <a:latin typeface="Aptos"/>
              </a:rPr>
              <a:t>Δy</a:t>
            </a:r>
            <a:r>
              <a:rPr lang="pt-BR" sz="1600" dirty="0">
                <a:solidFill>
                  <a:srgbClr val="182B45"/>
                </a:solidFill>
                <a:latin typeface="Aptos"/>
              </a:rPr>
              <a:t>/</a:t>
            </a:r>
            <a:r>
              <a:rPr lang="pt-BR" sz="1600" dirty="0" err="1">
                <a:solidFill>
                  <a:srgbClr val="182B45"/>
                </a:solidFill>
                <a:latin typeface="Aptos"/>
              </a:rPr>
              <a:t>Δu</a:t>
            </a:r>
            <a:r>
              <a:rPr lang="pt-BR" sz="1600" dirty="0">
                <a:solidFill>
                  <a:srgbClr val="182B45"/>
                </a:solidFill>
                <a:latin typeface="Aptos"/>
              </a:rPr>
              <a:t> ≈ 1798/80 ≈ 22,5 RPM/% .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F5ABB3-9648-7B64-B939-1832898FF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147D63-139E-D462-E0A7-791D53324B62}"/>
              </a:ext>
            </a:extLst>
          </p:cNvPr>
          <p:cNvSpPr txBox="1"/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Variáveis</a:t>
            </a:r>
            <a:r>
              <a:rPr dirty="0"/>
              <a:t> do </a:t>
            </a:r>
            <a:r>
              <a:rPr dirty="0" err="1"/>
              <a:t>processo</a:t>
            </a:r>
            <a:r>
              <a:rPr dirty="0"/>
              <a:t> e </a:t>
            </a:r>
            <a:r>
              <a:rPr dirty="0" err="1"/>
              <a:t>perturbações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42A8C7-2129-EED4-E3F5-A04CA6358E9F}"/>
              </a:ext>
            </a:extLst>
          </p:cNvPr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E352AF0-3C18-E413-FE9E-A047E7B1AB07}"/>
              </a:ext>
            </a:extLst>
          </p:cNvPr>
          <p:cNvSpPr/>
          <p:nvPr/>
        </p:nvSpPr>
        <p:spPr>
          <a:xfrm>
            <a:off x="731520" y="1325713"/>
            <a:ext cx="5257800" cy="21323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464C10-DEA2-5884-78AB-131693B3F62D}"/>
              </a:ext>
            </a:extLst>
          </p:cNvPr>
          <p:cNvSpPr txBox="1"/>
          <p:nvPr/>
        </p:nvSpPr>
        <p:spPr>
          <a:xfrm>
            <a:off x="914400" y="1581485"/>
            <a:ext cx="7587916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Variável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controlada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- Velocidade (RPM)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1A58F3-79D4-1F18-77C1-39BF12A26DC6}"/>
              </a:ext>
            </a:extLst>
          </p:cNvPr>
          <p:cNvSpPr txBox="1"/>
          <p:nvPr/>
        </p:nvSpPr>
        <p:spPr>
          <a:xfrm>
            <a:off x="914400" y="1965960"/>
            <a:ext cx="4846320" cy="981807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É a saída do motor que queremos controlar.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O sistema busca manter a rotação </a:t>
            </a:r>
            <a:r>
              <a:rPr lang="pt-BR" dirty="0"/>
              <a:t>próxima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ao </a:t>
            </a:r>
            <a:r>
              <a:rPr 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SetPoint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de 1800 RPM, usado como referência no projeto.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D6A10A4-06CA-4A53-48E5-E85E5114C853}"/>
              </a:ext>
            </a:extLst>
          </p:cNvPr>
          <p:cNvSpPr/>
          <p:nvPr/>
        </p:nvSpPr>
        <p:spPr>
          <a:xfrm>
            <a:off x="6126479" y="1280160"/>
            <a:ext cx="5248469" cy="21488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7F7469-1C81-FE83-66F6-7B1FB2CE4939}"/>
              </a:ext>
            </a:extLst>
          </p:cNvPr>
          <p:cNvSpPr txBox="1"/>
          <p:nvPr/>
        </p:nvSpPr>
        <p:spPr>
          <a:xfrm>
            <a:off x="6355080" y="1591056"/>
            <a:ext cx="484632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2F69A4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Variável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manipulada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–  </a:t>
            </a:r>
            <a:r>
              <a:rPr 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Duty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cycle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do PWM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7454BE-55EE-F2B1-02B2-C11178483CA8}"/>
              </a:ext>
            </a:extLst>
          </p:cNvPr>
          <p:cNvSpPr txBox="1"/>
          <p:nvPr/>
        </p:nvSpPr>
        <p:spPr>
          <a:xfrm>
            <a:off x="6355080" y="1965960"/>
            <a:ext cx="4846320" cy="1151084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Representa o comando de acionamento aplicado ao motor.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Ao aumentar ou diminuir esse comando, altera-se a energia fornecida ao motor e, consequentemente, sua velocidade.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5A2E70A-EBE5-FB60-FC81-94DAFF60D603}"/>
              </a:ext>
            </a:extLst>
          </p:cNvPr>
          <p:cNvSpPr/>
          <p:nvPr/>
        </p:nvSpPr>
        <p:spPr>
          <a:xfrm>
            <a:off x="731520" y="3790868"/>
            <a:ext cx="5148070" cy="2151047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Carga mecânica: o aumento da carga no eixo pode reduzir a rotação.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Alimentação elétrica: variações na tensão podem alterar o desempenho do motor.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Atrito e aquecimento: modificam as condições de funcionamento e podem afetar a velocidade.</a:t>
            </a:r>
            <a:endParaRPr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5275FE-A9B6-ECA4-3E6B-854160A2524A}"/>
              </a:ext>
            </a:extLst>
          </p:cNvPr>
          <p:cNvSpPr txBox="1"/>
          <p:nvPr/>
        </p:nvSpPr>
        <p:spPr>
          <a:xfrm>
            <a:off x="1033270" y="3887861"/>
            <a:ext cx="484632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CD7731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Perturbações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A50A84D-3DEC-9E09-B398-DF8D4FE469B9}"/>
              </a:ext>
            </a:extLst>
          </p:cNvPr>
          <p:cNvSpPr/>
          <p:nvPr/>
        </p:nvSpPr>
        <p:spPr>
          <a:xfrm>
            <a:off x="6135808" y="3790867"/>
            <a:ext cx="5248470" cy="2151047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ADB8A2-8D00-E9D7-89AF-74A782DE7202}"/>
              </a:ext>
            </a:extLst>
          </p:cNvPr>
          <p:cNvSpPr txBox="1"/>
          <p:nvPr/>
        </p:nvSpPr>
        <p:spPr>
          <a:xfrm>
            <a:off x="6431280" y="3842058"/>
            <a:ext cx="484632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B03D3D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Faixas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operação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2E6CA9-790E-66C6-B48F-80FB31A16A64}"/>
              </a:ext>
            </a:extLst>
          </p:cNvPr>
          <p:cNvSpPr txBox="1"/>
          <p:nvPr/>
        </p:nvSpPr>
        <p:spPr>
          <a:xfrm>
            <a:off x="6355080" y="4162181"/>
            <a:ext cx="4846320" cy="179741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lang="pt-BR" dirty="0"/>
              <a:t>Ensaio realizado: degrau de acionamento de 0% para 80%.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lang="pt-BR" dirty="0"/>
              <a:t>Referência de velocidade: 1800 RPM.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lang="pt-BR" dirty="0"/>
              <a:t>Os limites máximos de tensão, corrente e rotação dependem das especificações do motor, do driver e do sensor; não devem ser deduzidos apenas desses valores do ensaio.</a:t>
            </a:r>
            <a:endParaRPr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0FF870-1498-1EE4-C080-6FB4DCF12C94}"/>
              </a:ext>
            </a:extLst>
          </p:cNvPr>
          <p:cNvSpPr txBox="1"/>
          <p:nvPr/>
        </p:nvSpPr>
        <p:spPr>
          <a:xfrm>
            <a:off x="859349" y="6044160"/>
            <a:ext cx="1051560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600" b="1">
                <a:solidFill>
                  <a:srgbClr val="182B45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PID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compara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velocidade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medida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com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SetPoint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ajusta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acionamento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reduzir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erro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69564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Sintonia</a:t>
            </a:r>
            <a:r>
              <a:rPr dirty="0"/>
              <a:t> Cohen–Coon: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interpretar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166360" cy="173736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581912"/>
            <a:ext cx="4800600" cy="2585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O que </a:t>
            </a:r>
            <a:r>
              <a:rPr sz="1200" dirty="0" err="1">
                <a:latin typeface="Arial" panose="020B0604020202020204" pitchFamily="34" charset="0"/>
                <a:cs typeface="Arial" panose="020B0604020202020204" pitchFamily="34" charset="0"/>
              </a:rPr>
              <a:t>significam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latin typeface="Arial" panose="020B0604020202020204" pitchFamily="34" charset="0"/>
                <a:cs typeface="Arial" panose="020B0604020202020204" pitchFamily="34" charset="0"/>
              </a:rPr>
              <a:t>parâmetros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800600" cy="75097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Kp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define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intensidade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proporcional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;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Ti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define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escala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tempo da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integral;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b="1" dirty="0">
                <a:latin typeface="Arial" panose="020B0604020202020204" pitchFamily="34" charset="0"/>
                <a:cs typeface="Arial" panose="020B0604020202020204" pitchFamily="34" charset="0"/>
              </a:rPr>
              <a:t>Td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define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escala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tempo da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derivativa</a:t>
            </a:r>
            <a:r>
              <a:rPr dirty="0"/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17320"/>
            <a:ext cx="5257800" cy="173736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545336"/>
            <a:ext cx="489204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B03D3D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Atenção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à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razão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θ/τ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920240"/>
            <a:ext cx="4892040" cy="118186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material do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projeto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cita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θ/τ &gt; 0,3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referência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para Cohen–Coon.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No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nosso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razão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é 0,1270,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abaixo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desse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valor.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isso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resultado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deve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ser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interpretado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com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essa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ressalva</a:t>
            </a:r>
            <a:r>
              <a:rPr dirty="0"/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37560"/>
            <a:ext cx="2286000" cy="10058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3456432"/>
            <a:ext cx="199339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16847E"/>
                </a:solidFill>
                <a:latin typeface="Aptos"/>
              </a:defRPr>
            </a:pPr>
            <a:r>
              <a:t>Kp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776472"/>
            <a:ext cx="1993392" cy="49377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0,477628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3337560"/>
            <a:ext cx="2286000" cy="10058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83864" y="3456432"/>
            <a:ext cx="199339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2F69A4"/>
                </a:solidFill>
                <a:latin typeface="Aptos"/>
              </a:defRPr>
            </a:pPr>
            <a:r>
              <a:t>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3864" y="3776472"/>
            <a:ext cx="1993392" cy="49377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5,929863 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37560"/>
            <a:ext cx="2286000" cy="10058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98464" y="3456432"/>
            <a:ext cx="199339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CD7731"/>
                </a:solidFill>
                <a:latin typeface="Aptos"/>
              </a:defRPr>
            </a:pPr>
            <a:r>
              <a:t>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98464" y="3776472"/>
            <a:ext cx="1993392" cy="49377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0,901684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29200"/>
            <a:ext cx="7315200" cy="36576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000" b="1">
                <a:solidFill>
                  <a:srgbClr val="182B45"/>
                </a:solidFill>
                <a:latin typeface="Aptos"/>
              </a:defRPr>
            </a:pPr>
            <a:r>
              <a:rPr dirty="0"/>
              <a:t>θ/τ = 2,5369 ÷ 19,9705 ≈ 0,1270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1F77E4-BA53-0FB4-E701-8B420A79E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C04E18-E261-BE10-B838-2AF46A02074B}"/>
              </a:ext>
            </a:extLst>
          </p:cNvPr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Métodos</a:t>
            </a:r>
            <a:r>
              <a:rPr dirty="0"/>
              <a:t> de </a:t>
            </a:r>
            <a:r>
              <a:rPr dirty="0" err="1"/>
              <a:t>identificação</a:t>
            </a:r>
            <a:r>
              <a:rPr dirty="0"/>
              <a:t>: Smith e </a:t>
            </a:r>
            <a:r>
              <a:rPr dirty="0" err="1"/>
              <a:t>Sundaresan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15ECD5-9010-6CB9-0E07-A7ACC3966873}"/>
              </a:ext>
            </a:extLst>
          </p:cNvPr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C59A055-DC60-0F53-4602-ED44AEC8BF99}"/>
              </a:ext>
            </a:extLst>
          </p:cNvPr>
          <p:cNvSpPr/>
          <p:nvPr/>
        </p:nvSpPr>
        <p:spPr>
          <a:xfrm>
            <a:off x="566930" y="1653628"/>
            <a:ext cx="5254750" cy="2441772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2C5124-C0B3-39B9-09BB-2463CDA4E52C}"/>
              </a:ext>
            </a:extLst>
          </p:cNvPr>
          <p:cNvSpPr txBox="1"/>
          <p:nvPr/>
        </p:nvSpPr>
        <p:spPr>
          <a:xfrm>
            <a:off x="987552" y="1750532"/>
            <a:ext cx="480060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que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foi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feito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AB2D7C-ED63-155E-9EFC-8302EAC51B05}"/>
              </a:ext>
            </a:extLst>
          </p:cNvPr>
          <p:cNvSpPr txBox="1"/>
          <p:nvPr/>
        </p:nvSpPr>
        <p:spPr>
          <a:xfrm>
            <a:off x="868680" y="2342125"/>
            <a:ext cx="4800600" cy="136652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Comparamos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dois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métodos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identificação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: Smith 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Sundaresan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Depois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obter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avaliamos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erro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quadrático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médio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chamado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EQM.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Esse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indicador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ajuda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verificar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qual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representa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melhor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dados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medidos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do motor.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5AB5763-CA41-DF28-0EDC-67BE541C8534}"/>
              </a:ext>
            </a:extLst>
          </p:cNvPr>
          <p:cNvSpPr/>
          <p:nvPr/>
        </p:nvSpPr>
        <p:spPr>
          <a:xfrm>
            <a:off x="6038088" y="1653628"/>
            <a:ext cx="5254750" cy="2441772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4DE793-9148-78C2-E2EB-AF93F270AB60}"/>
              </a:ext>
            </a:extLst>
          </p:cNvPr>
          <p:cNvSpPr txBox="1"/>
          <p:nvPr/>
        </p:nvSpPr>
        <p:spPr>
          <a:xfrm>
            <a:off x="6309359" y="1763351"/>
            <a:ext cx="49834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2F69A4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Como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interpretar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EQM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A53D75-CAA4-16C5-1E93-E493A02F65CF}"/>
              </a:ext>
            </a:extLst>
          </p:cNvPr>
          <p:cNvSpPr txBox="1"/>
          <p:nvPr/>
        </p:nvSpPr>
        <p:spPr>
          <a:xfrm>
            <a:off x="6103618" y="2321899"/>
            <a:ext cx="4983479" cy="136652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EQM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mede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diferença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entre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curva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calculada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resposta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real.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Quanto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valor,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melhor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foi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ajuste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dados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deste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ensaio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EQM,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sozinho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não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garante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que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seja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perfeito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outras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condições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5001" name="Rounded Rectangle 5">
            <a:extLst>
              <a:ext uri="{FF2B5EF4-FFF2-40B4-BE49-F238E27FC236}">
                <a16:creationId xmlns:a16="http://schemas.microsoft.com/office/drawing/2014/main" id="{2C59A055-DC60-0F53-4602-ED44AEC8BF99}"/>
              </a:ext>
            </a:extLst>
          </p:cNvPr>
          <p:cNvSpPr/>
          <p:nvPr/>
        </p:nvSpPr>
        <p:spPr>
          <a:xfrm>
            <a:off x="566930" y="4297680"/>
            <a:ext cx="5254750" cy="182880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2" name="TextBox 6">
            <a:extLst>
              <a:ext uri="{FF2B5EF4-FFF2-40B4-BE49-F238E27FC236}">
                <a16:creationId xmlns:a16="http://schemas.microsoft.com/office/drawing/2014/main" id="{262C5124-C0B3-39B9-09BB-2463CDA4E52C}"/>
              </a:ext>
            </a:extLst>
          </p:cNvPr>
          <p:cNvSpPr txBox="1"/>
          <p:nvPr/>
        </p:nvSpPr>
        <p:spPr>
          <a:xfrm>
            <a:off x="987552" y="4407408"/>
            <a:ext cx="480060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Smith: pontos de 28,3% e 63,2%</a:t>
            </a:r>
          </a:p>
        </p:txBody>
      </p:sp>
      <p:pic>
        <p:nvPicPr>
          <p:cNvPr id="5003" name="Picture 5002" descr="formula_smi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85" y="5261485"/>
            <a:ext cx="4206240" cy="449829"/>
          </a:xfrm>
          <a:prstGeom prst="rect">
            <a:avLst/>
          </a:prstGeom>
        </p:spPr>
      </p:pic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2C59A055-DC60-0F53-4602-ED44AEC8BF99}"/>
              </a:ext>
            </a:extLst>
          </p:cNvPr>
          <p:cNvSpPr/>
          <p:nvPr/>
        </p:nvSpPr>
        <p:spPr>
          <a:xfrm>
            <a:off x="6038088" y="4297680"/>
            <a:ext cx="5254750" cy="182880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4" name="TextBox 6">
            <a:extLst>
              <a:ext uri="{FF2B5EF4-FFF2-40B4-BE49-F238E27FC236}">
                <a16:creationId xmlns:a16="http://schemas.microsoft.com/office/drawing/2014/main" id="{262C5124-C0B3-39B9-09BB-2463CDA4E52C}"/>
              </a:ext>
            </a:extLst>
          </p:cNvPr>
          <p:cNvSpPr txBox="1"/>
          <p:nvPr/>
        </p:nvSpPr>
        <p:spPr>
          <a:xfrm>
            <a:off x="6458710" y="4407408"/>
            <a:ext cx="480060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Sundaresan: pontos de 35,3% e 85,3%</a:t>
            </a:r>
          </a:p>
        </p:txBody>
      </p:sp>
      <p:pic>
        <p:nvPicPr>
          <p:cNvPr id="5005" name="Picture 5004" descr="formula_sundares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183" y="5193619"/>
            <a:ext cx="4480560" cy="585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65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FDA008A-9646-41EC-9F73-9E42188FB0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00"/>
          <a:stretch>
            <a:fillRect/>
          </a:stretch>
        </p:blipFill>
        <p:spPr>
          <a:xfrm>
            <a:off x="594360" y="1188720"/>
            <a:ext cx="7874143" cy="4937760"/>
          </a:xfrm>
          <a:prstGeom prst="rect">
            <a:avLst/>
          </a:prstGeom>
        </p:spPr>
      </p:pic>
      <p:sp>
        <p:nvSpPr>
          <p:cNvPr id="5005" name="TextBox 1">
            <a:extLst>
              <a:ext uri="{FF2B5EF4-FFF2-40B4-BE49-F238E27FC236}">
                <a16:creationId xmlns:a16="http://schemas.microsoft.com/office/drawing/2014/main" id="{47C04E18-E261-BE10-B838-2AF46A02074B}"/>
              </a:ext>
            </a:extLst>
          </p:cNvPr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Smith acompanha melhor a curva real</a:t>
            </a:r>
            <a:endParaRPr dirty="0"/>
          </a:p>
        </p:txBody>
      </p:sp>
      <p:sp>
        <p:nvSpPr>
          <p:cNvPr id="5006" name="Rectangle 2">
            <a:extLst>
              <a:ext uri="{FF2B5EF4-FFF2-40B4-BE49-F238E27FC236}">
                <a16:creationId xmlns:a16="http://schemas.microsoft.com/office/drawing/2014/main" id="{4715ECD5-9010-6CB9-0E07-A7ACC3966873}"/>
              </a:ext>
            </a:extLst>
          </p:cNvPr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7" name="Rounded Rectangle 14"/>
          <p:cNvSpPr/>
          <p:nvPr/>
        </p:nvSpPr>
        <p:spPr>
          <a:xfrm>
            <a:off x="8686800" y="1554480"/>
            <a:ext cx="2743200" cy="28346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8" name="TextBox 15"/>
          <p:cNvSpPr txBox="1"/>
          <p:nvPr/>
        </p:nvSpPr>
        <p:spPr>
          <a:xfrm>
            <a:off x="8869680" y="1682496"/>
            <a:ext cx="237744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CD7731"/>
                </a:solidFill>
                <a:latin typeface="Aptos"/>
              </a:defRPr>
            </a:pPr>
            <a:r>
              <a:t>Por que Smith?</a:t>
            </a:r>
          </a:p>
        </p:txBody>
      </p:sp>
      <p:sp>
        <p:nvSpPr>
          <p:cNvPr id="5009" name="TextBox 16"/>
          <p:cNvSpPr txBox="1"/>
          <p:nvPr/>
        </p:nvSpPr>
        <p:spPr>
          <a:xfrm>
            <a:off x="8869680" y="2057400"/>
            <a:ext cx="2377440" cy="228600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400" b="0">
                <a:solidFill>
                  <a:srgbClr val="2B343E"/>
                </a:solidFill>
                <a:latin typeface="Aptos"/>
              </a:defRPr>
            </a:pPr>
            <a:r>
              <a:t>Menor EQM: 10,46 contra 16,37 RPM.</a:t>
            </a:r>
          </a:p>
          <a:p>
            <a:pPr algn="l">
              <a:defRPr sz="1400" b="0">
                <a:solidFill>
                  <a:srgbClr val="2B343E"/>
                </a:solidFill>
                <a:latin typeface="Aptos"/>
              </a:defRPr>
            </a:pPr>
            <a:endParaRPr/>
          </a:p>
          <a:p>
            <a:pPr algn="l">
              <a:defRPr sz="1400" b="0">
                <a:solidFill>
                  <a:srgbClr val="2B343E"/>
                </a:solidFill>
                <a:latin typeface="Aptos"/>
              </a:defRPr>
            </a:pPr>
            <a:r>
              <a:t>O ponto de 85,3% do Sundaresan fica na parte achatada da curva, onde o ruído desloca o cruzamento. Por isso o θ saiu maior: 3,21 s contra 2,47 s.</a:t>
            </a:r>
          </a:p>
        </p:txBody>
      </p:sp>
    </p:spTree>
    <p:extLst>
      <p:ext uri="{BB962C8B-B14F-4D97-AF65-F5344CB8AC3E}">
        <p14:creationId xmlns:p14="http://schemas.microsoft.com/office/powerpoint/2010/main" val="27588423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t>Resultado da identificação e ajuste fino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88136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100" b="0">
                <a:solidFill>
                  <a:srgbClr val="5D6A78"/>
                </a:solidFill>
                <a:latin typeface="Aptos"/>
              </a:defRPr>
            </a:pPr>
            <a:r>
              <a:rPr dirty="0"/>
              <a:t>O </a:t>
            </a:r>
            <a:r>
              <a:rPr dirty="0" err="1"/>
              <a:t>método</a:t>
            </a:r>
            <a:r>
              <a:rPr dirty="0"/>
              <a:t> Smith </a:t>
            </a:r>
            <a:r>
              <a:rPr dirty="0" err="1"/>
              <a:t>apresentou</a:t>
            </a:r>
            <a:r>
              <a:rPr dirty="0"/>
              <a:t> o </a:t>
            </a:r>
            <a:r>
              <a:rPr dirty="0" err="1"/>
              <a:t>menor</a:t>
            </a:r>
            <a:r>
              <a:rPr dirty="0"/>
              <a:t> EQM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dois</a:t>
            </a:r>
            <a:r>
              <a:rPr dirty="0"/>
              <a:t> </a:t>
            </a:r>
            <a:r>
              <a:rPr dirty="0" err="1"/>
              <a:t>métodos</a:t>
            </a:r>
            <a:r>
              <a:rPr dirty="0"/>
              <a:t> </a:t>
            </a:r>
            <a:r>
              <a:rPr dirty="0" err="1"/>
              <a:t>iniciais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423160" cy="96012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1581912"/>
            <a:ext cx="213055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16847E"/>
                </a:solidFill>
                <a:latin typeface="Aptos"/>
              </a:defRPr>
            </a:pPr>
            <a:r>
              <a:t>SMITH • EQM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1901952"/>
            <a:ext cx="2130552" cy="44805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10,4641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463040"/>
            <a:ext cx="2423160" cy="96012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83864" y="1581912"/>
            <a:ext cx="213055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2F69A4"/>
                </a:solidFill>
                <a:latin typeface="Aptos"/>
              </a:defRPr>
            </a:pPr>
            <a:r>
              <a:t>SUNDARESAN • EQM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3864" y="1901952"/>
            <a:ext cx="2130552" cy="44805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16,3748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463040"/>
            <a:ext cx="2423160" cy="96012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9904" y="1581912"/>
            <a:ext cx="213055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CD7731"/>
                </a:solidFill>
                <a:latin typeface="Aptos"/>
              </a:defRPr>
            </a:pPr>
            <a:r>
              <a:t>AJUSTE FINO • EQM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9904" y="1901952"/>
            <a:ext cx="2130552" cy="44805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10,0954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1463040"/>
            <a:ext cx="2788920" cy="19202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32519" y="1591056"/>
            <a:ext cx="242316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CD7731"/>
                </a:solidFill>
                <a:latin typeface="Aptos"/>
              </a:defRPr>
            </a:pPr>
            <a:r>
              <a:t>Por que ajustar?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19" y="1965960"/>
            <a:ext cx="2423160" cy="129844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400" b="0">
                <a:solidFill>
                  <a:srgbClr val="2B343E"/>
                </a:solidFill>
                <a:latin typeface="Aptos"/>
              </a:defRPr>
            </a:pPr>
            <a:r>
              <a:t>O ajuste fino modifica os parâmetros para reduzir ainda mais a diferença entre o modelo e os dados medidos.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657600"/>
            <a:ext cx="3108960" cy="196596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0" y="3785615"/>
            <a:ext cx="274320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t>Parâmetros ajustados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160520"/>
            <a:ext cx="2743200" cy="9326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600" b="0">
                <a:solidFill>
                  <a:srgbClr val="2B343E"/>
                </a:solidFill>
                <a:latin typeface="Aptos"/>
              </a:defRPr>
            </a:pPr>
            <a:r>
              <a:t>k = 22,4987</a:t>
            </a:r>
            <a:br/>
            <a:r>
              <a:t>τ = 19,9705 s</a:t>
            </a:r>
            <a:br/>
            <a:r>
              <a:t>θ = 2,5369 s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2B343E"/>
                </a:solidFill>
                <a:latin typeface="Aptos"/>
              </a:defRPr>
            </a:pPr>
            <a:r>
              <a:rPr lang="pt-BR" sz="1200" i="1">
                <a:solidFill>
                  <a:srgbClr val="5A6772"/>
                </a:solidFill>
              </a:rPr>
              <a:t>Valores do ensaio: k = 22,5; τ = 20 s; θ = 2,5 s</a:t>
            </a:r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BC016C3C-5768-3348-99B1-97BCA122B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94" y="2606040"/>
            <a:ext cx="7856525" cy="32735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/>
              <a:t>Ziegler-Nichols teve a resposta mais rápida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88136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100" b="0">
                <a:solidFill>
                  <a:srgbClr val="5D6A78"/>
                </a:solidFill>
                <a:latin typeface="Aptos"/>
              </a:defRPr>
            </a:pPr>
            <a:r>
              <a:rPr dirty="0" err="1"/>
              <a:t>Comparação</a:t>
            </a:r>
            <a:r>
              <a:rPr dirty="0"/>
              <a:t> dos </a:t>
            </a:r>
            <a:r>
              <a:rPr dirty="0" err="1"/>
              <a:t>métodos</a:t>
            </a:r>
            <a:r>
              <a:rPr dirty="0"/>
              <a:t> para 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modelo</a:t>
            </a:r>
            <a:r>
              <a:rPr dirty="0"/>
              <a:t> e </a:t>
            </a:r>
            <a:r>
              <a:rPr dirty="0" err="1"/>
              <a:t>SetPoint</a:t>
            </a:r>
            <a:r>
              <a:rPr dirty="0"/>
              <a:t> de 1800 RPM.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2360" y="1554480"/>
            <a:ext cx="3977639" cy="10972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35240" y="1682495"/>
            <a:ext cx="36118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Cohen–Coon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946776"/>
            <a:ext cx="3611879" cy="73558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Subida: </a:t>
            </a:r>
            <a:r>
              <a:rPr lang="pt-BR" sz="1500" dirty="0">
                <a:solidFill>
                  <a:srgbClr val="2B343E"/>
                </a:solidFill>
                <a:latin typeface="Aptos"/>
              </a:rPr>
              <a:t>1,198 s</a:t>
            </a:r>
            <a:b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Acomodação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: 23,240 s</a:t>
            </a:r>
            <a:b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Overshoot: 84,16%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2834640"/>
            <a:ext cx="3977639" cy="10972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35240" y="2962656"/>
            <a:ext cx="36118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2F69A4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Ziegler–Nichols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195829"/>
            <a:ext cx="3611879" cy="720197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Subida: 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1,147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s</a:t>
            </a:r>
            <a:b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Acomodação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: 22,741 s</a:t>
            </a:r>
            <a:b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Overshoot: 68,82%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4160520"/>
            <a:ext cx="3977639" cy="205740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58100" y="4151375"/>
            <a:ext cx="36118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CD7731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Conclusão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635238" y="4446037"/>
            <a:ext cx="3611879" cy="179741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4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solidFill>
                  <a:srgbClr val="2B34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ZN acomodou antes (22,74 s contra 23,24 s), subiu um pouco mais rápido (1,15 s contra 1,20 s) e teve menos </a:t>
            </a:r>
            <a:r>
              <a:rPr lang="pt-BR" sz="1400" dirty="0" err="1">
                <a:solidFill>
                  <a:srgbClr val="2B34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overshoot</a:t>
            </a:r>
            <a:r>
              <a:rPr lang="pt-BR" sz="1400" dirty="0">
                <a:solidFill>
                  <a:srgbClr val="2B34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(69 % contra 84 %).</a:t>
            </a:r>
          </a:p>
          <a:p>
            <a:pPr marL="285750" indent="-285750">
              <a:buFont typeface="Arial" panose="020B0604020202020204" pitchFamily="34" charset="0"/>
              <a:buChar char="•"/>
              <a:defRPr sz="14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solidFill>
                  <a:srgbClr val="2B343E"/>
                </a:solidFill>
                <a:latin typeface="Aptos"/>
              </a:rPr>
              <a:t>"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O Cohen-Coon foi proposto para θ/τ &gt; 0,3. Com θ/τ = 0,127, ele fica mais agressivo (Kp maior) sem ganhar velocidade.</a:t>
            </a:r>
            <a:endParaRPr lang="pt-B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Picture 15" descr="comparacao_p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83705"/>
            <a:ext cx="6629400" cy="41433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acetado">
  <a:themeElements>
    <a:clrScheme name="Facetado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do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do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10913E91E3223419314E4EEAF55D6B7" ma:contentTypeVersion="14" ma:contentTypeDescription="Create a new document." ma:contentTypeScope="" ma:versionID="f5daf4d97800b124ae3bcd4663ff1978">
  <xsd:schema xmlns:xsd="http://www.w3.org/2001/XMLSchema" xmlns:xs="http://www.w3.org/2001/XMLSchema" xmlns:p="http://schemas.microsoft.com/office/2006/metadata/properties" xmlns:ns3="39687eec-9f0c-43bc-aa81-f41a7d22872d" xmlns:ns4="e9ac9483-9538-4d01-9b68-bc5731453717" targetNamespace="http://schemas.microsoft.com/office/2006/metadata/properties" ma:root="true" ma:fieldsID="24b8c66475976e2de1d2b339beb70633" ns3:_="" ns4:_="">
    <xsd:import namespace="39687eec-9f0c-43bc-aa81-f41a7d22872d"/>
    <xsd:import namespace="e9ac9483-9538-4d01-9b68-bc5731453717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9687eec-9f0c-43bc-aa81-f41a7d2287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ac9483-9538-4d01-9b68-bc573145371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3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39687eec-9f0c-43bc-aa81-f41a7d22872d" xsi:nil="true"/>
  </documentManagement>
</p:properties>
</file>

<file path=customXml/itemProps1.xml><?xml version="1.0" encoding="utf-8"?>
<ds:datastoreItem xmlns:ds="http://schemas.openxmlformats.org/officeDocument/2006/customXml" ds:itemID="{4CD6D3B7-172E-44AC-BFAA-DB50306F7DC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E494FB8-869E-4F89-88F3-DD5022C12A5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9687eec-9f0c-43bc-aa81-f41a7d22872d"/>
    <ds:schemaRef ds:uri="e9ac9483-9538-4d01-9b68-bc573145371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4D1B855-CBE0-4C6D-AAED-AB0DD0DFD68F}">
  <ds:schemaRefs>
    <ds:schemaRef ds:uri="http://schemas.microsoft.com/office/2006/metadata/properties"/>
    <ds:schemaRef ds:uri="http://schemas.microsoft.com/office/infopath/2007/PartnerControls"/>
    <ds:schemaRef ds:uri="39687eec-9f0c-43bc-aa81-f41a7d22872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145</TotalTime>
  <Words>876</Words>
  <Application>Microsoft Office PowerPoint</Application>
  <PresentationFormat>Widescreen</PresentationFormat>
  <Paragraphs>100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7" baseType="lpstr">
      <vt:lpstr>Aptos</vt:lpstr>
      <vt:lpstr>Arial</vt:lpstr>
      <vt:lpstr>Cambria Math</vt:lpstr>
      <vt:lpstr>Trebuchet MS</vt:lpstr>
      <vt:lpstr>Wingdings 3</vt:lpstr>
      <vt:lpstr>Facetado</vt:lpstr>
      <vt:lpstr>Identificação de Processos e Sintonia de Controladores PID  Grupo 2 — C13 Sistemas Embarcados   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Identificação de Processos e Sintonia de Controladores PID  Grupo 2 — C13 Sistemas Embarcados</dc:title>
  <dc:subject/>
  <dc:creator>Maria Rita</dc:creator>
  <cp:keywords/>
  <dc:description>generated using python-pptx</dc:description>
  <cp:lastModifiedBy>MARIA RITA RAPOSO ROSA</cp:lastModifiedBy>
  <cp:revision>12</cp:revision>
  <dcterms:created xsi:type="dcterms:W3CDTF">2013-01-27T09:14:16Z</dcterms:created>
  <dcterms:modified xsi:type="dcterms:W3CDTF">2026-10-13T01:36:00Z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0x010100410913E91E3223419314E4EEAF55D6B7</vt:lpwstr>
  </property>
</Properties>
</file>